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target: 55 seconds.
Support teams want fast, correct answers from company documents, but running the full retrieval pipeline on every question is slow and costly, and answering from weak evidence is risky.
Our idea is to match retrieval effort to the question. First, check a cache of verified answers: a repeat question reuses its answer. Otherwise, retrieve evidence with hybrid search, combining vector and keyword search. Then check that evidence: if the two searches disagree, search once more, at most once. Finally, answer with citations, or refuse if the evidence is still insufficient.
Today steps 2 to 4 are built as prototypes. The verified cache is planned.
Prior work such as Adaptive-RAG routes by question complexity, and Self-RAG learns when to retrieve and critiques itself. Both decide when to retrieve. We decide how much effort an enterprise question deserves, including reusing an answer or refusing, and we measure the quality-versus-cost tradeoff. Cost savings are still a hypothesis.
Sources:
Jeong et al., Adaptive-RAG, NAACL 2024: https://aclanthology.org/2024.naacl-long.389/
Asai et al., Self-RAG, ICLR 2024: https://arxiv.org/abs/2310.11511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target: 65 seconds, then about one minute of questions.
We tested this idea on our development set of 62 answerable questions. Ranking quality here is nDCG at 5, where 1 means the correct document is ranked first.
Plain vector search scores 0.807. Adding keyword search to make it hybrid raises that to 0.846, at the same 30 milliseconds. Next we tried an extra search step, where a small local LLM rewrites the query using the first results. Doing that on every question is slow, about 1.3 seconds, and it actually ranks slightly worse, 0.825.
So we made it adaptive: we run the extra search only when keyword search and vector search disagree on the top document. That happens on 46 percent of questions. The result is the best ranking, 0.855, at 592 milliseconds, less than half the latency of always searching. That is our main takeaway: spending effort only where the question needs it can be both cheaper and better.
We also have an end-to-end prototype: a local Qwen3 4B model writes an answer with citations, or refuses when the passages do not support one. In our rehearsal questions, about 96 percent of each answer's time was the model writing it, three and a half to six seconds, versus well under a second for retrieval. So the biggest remaining saving is reusing verified answers, which is our next step.
Before the final report we confirm these development results on validation and test questions, score answers and refusals on every question, add the verified cache, and grow to about 300 questions, including multi-document ones.
Answering source: John's feat-rag-metrics branch, demoplan.md (offline rehearsal on an Apple M4 Pro: qst_0026 answered with two valid citations in 6.21 s, 6.05 s generation; the Gmail password question and qst_0046 refused in 3.96 s and 3.64 s).
Retrieval source: Ty's optimization experiments, branch feat-retrieval-optimizations, experiments/optimizations (figure 4, combinations-dev-20261020-01: 8 passes, 3,312 requests).
Q&amp;A:
What is nDCG@5? A score for the top-5 ranking: 1 if the correct document is first, lower the further down it appears, 0 if it is missing.
Recall@5? Hybrid 0.919; extra search always 0.935; only when needed 0.935. The gain is mostly in ranking order, not in finding new documents.
Why not a reranker? We tried the ms-marco MiniLM cross-encoder. It lowered nDCG@5 from 0.807 to 0.781, likely because it was trained on web search, not enterprise documents.
What is the extra search? LameR: an LLM (Llama 3.2 3B, run locally) drafts likely answers from the top keyword results, and we search again with them.
Is the gain significant? Paired bootstrap intervals were computed; the run is small (62 questions) and on the development split only, so we present it as an observation.
Why is this different from the earlier MiniLM numbers? These runs use Qwen3-Embedding-0.6B and a separate experiment harness, so the numbers are not directly comparable.
Does refusal work? A first check: the off-topic Gmail question was refused. qst_0046 was also refused because its retrieved passages missed the 5-business-day answer, a retrieval limit rather than a model error. Citations and quotes are checked by code; semantic correctness is not yet verified at scale.
Is this cost or only latency? Latency only, on an M4 Max laptop with warm models. Hardware and energy cost are not measured; there are no paid API calls.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28600"/>
          </a:xfrm>
          <a:prstGeom prst="rect">
            <a:avLst/>
          </a:prstGeom>
          <a:noFill/>
          <a:ln/>
        </p:spPr>
        <p:txBody>
          <a:bodyPr wrap="square" lIns="0" tIns="0" rIns="0" bIns="0" rtlCol="0" anchor="t"/>
          <a:lstStyle/>
          <a:p>
            <a:pPr indent="0" marL="0">
              <a:buNone/>
            </a:pPr>
            <a:r>
              <a:rPr lang="en-US" sz="1100" b="1" spc="100" kern="0" dirty="0">
                <a:solidFill>
                  <a:srgbClr val="0F7C80"/>
                </a:solidFill>
                <a:latin typeface="Calibri" pitchFamily="34" charset="0"/>
                <a:ea typeface="Calibri" pitchFamily="34" charset="-122"/>
                <a:cs typeface="Calibri" pitchFamily="34" charset="-120"/>
              </a:rPr>
              <a:t>TEAM 13  ·  CSCI 544 MIDTERM</a:t>
            </a:r>
            <a:endParaRPr lang="en-US" sz="1100" dirty="0"/>
          </a:p>
        </p:txBody>
      </p:sp>
      <p:sp>
        <p:nvSpPr>
          <p:cNvPr id="3" name="Text 1"/>
          <p:cNvSpPr txBox="1"/>
          <p:nvPr/>
        </p:nvSpPr>
        <p:spPr>
          <a:xfrm>
            <a:off x="457200" y="530352"/>
            <a:ext cx="8229600" cy="502920"/>
          </a:xfrm>
          <a:prstGeom prst="rect">
            <a:avLst/>
          </a:prstGeom>
          <a:noFill/>
          <a:ln/>
        </p:spPr>
        <p:txBody>
          <a:bodyPr wrap="square" lIns="0" tIns="0" rIns="0" bIns="0" rtlCol="0" anchor="t"/>
          <a:lstStyle/>
          <a:p>
            <a:pPr indent="0" marL="0">
              <a:buNone/>
            </a:pPr>
            <a:r>
              <a:rPr lang="en-US" sz="2800" b="1" dirty="0">
                <a:solidFill>
                  <a:srgbClr val="1F2A30"/>
                </a:solidFill>
                <a:latin typeface="Calibri" pitchFamily="34" charset="0"/>
                <a:ea typeface="Calibri" pitchFamily="34" charset="-122"/>
                <a:cs typeface="Calibri" pitchFamily="34" charset="-120"/>
              </a:rPr>
              <a:t>Match retrieval effort to the question</a:t>
            </a:r>
            <a:endParaRPr lang="en-US" sz="2800" dirty="0"/>
          </a:p>
        </p:txBody>
      </p:sp>
      <p:sp>
        <p:nvSpPr>
          <p:cNvPr id="4" name="Text 2"/>
          <p:cNvSpPr txBox="1"/>
          <p:nvPr/>
        </p:nvSpPr>
        <p:spPr>
          <a:xfrm>
            <a:off x="457200" y="1033272"/>
            <a:ext cx="8229600" cy="274320"/>
          </a:xfrm>
          <a:prstGeom prst="rect">
            <a:avLst/>
          </a:prstGeom>
          <a:noFill/>
          <a:ln/>
        </p:spPr>
        <p:txBody>
          <a:bodyPr wrap="square" lIns="0" tIns="0" rIns="0" bIns="0" rtlCol="0" anchor="t"/>
          <a:lstStyle/>
          <a:p>
            <a:pPr indent="0" marL="0">
              <a:buNone/>
            </a:pPr>
            <a:r>
              <a:rPr lang="en-US" sz="1400" dirty="0">
                <a:solidFill>
                  <a:srgbClr val="5B6770"/>
                </a:solidFill>
                <a:latin typeface="Calibri" pitchFamily="34" charset="0"/>
                <a:ea typeface="Calibri" pitchFamily="34" charset="-122"/>
                <a:cs typeface="Calibri" pitchFamily="34" charset="-120"/>
              </a:rPr>
              <a:t>Enterprise support assistant: a cited answer from company documents, or a refusal when evidence is weak</a:t>
            </a:r>
            <a:endParaRPr lang="en-US" sz="1400" dirty="0"/>
          </a:p>
        </p:txBody>
      </p:sp>
      <p:sp>
        <p:nvSpPr>
          <p:cNvPr id="5" name="step-1"/>
          <p:cNvSpPr/>
          <p:nvPr/>
        </p:nvSpPr>
        <p:spPr>
          <a:xfrm>
            <a:off x="457200" y="1600200"/>
            <a:ext cx="1828800" cy="960120"/>
          </a:xfrm>
          <a:prstGeom prst="roundRect">
            <a:avLst>
              <a:gd name="adj" fmla="val 7619"/>
            </a:avLst>
          </a:prstGeom>
          <a:solidFill>
            <a:srgbClr val="FFFFFF"/>
          </a:solidFill>
          <a:ln w="15875">
            <a:solidFill>
              <a:srgbClr val="B8C2C8"/>
            </a:solidFill>
            <a:prstDash val="dash"/>
          </a:ln>
        </p:spPr>
      </p:sp>
      <p:sp>
        <p:nvSpPr>
          <p:cNvPr id="6" name="Text 4"/>
          <p:cNvSpPr txBox="1"/>
          <p:nvPr/>
        </p:nvSpPr>
        <p:spPr>
          <a:xfrm>
            <a:off x="594360" y="1709928"/>
            <a:ext cx="274320" cy="274320"/>
          </a:xfrm>
          <a:prstGeom prst="rect">
            <a:avLst/>
          </a:prstGeom>
          <a:noFill/>
          <a:ln/>
        </p:spPr>
        <p:txBody>
          <a:bodyPr wrap="square" lIns="0" tIns="0" rIns="0" bIns="0" rtlCol="0" anchor="t"/>
          <a:lstStyle/>
          <a:p>
            <a:pPr indent="0" marL="0">
              <a:buNone/>
            </a:pPr>
            <a:r>
              <a:rPr lang="en-US" sz="1400" b="1" dirty="0">
                <a:solidFill>
                  <a:srgbClr val="0F7C80"/>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594360" y="1947672"/>
            <a:ext cx="1554480" cy="274320"/>
          </a:xfrm>
          <a:prstGeom prst="rect">
            <a:avLst/>
          </a:prstGeom>
          <a:noFill/>
          <a:ln/>
        </p:spPr>
        <p:txBody>
          <a:bodyPr wrap="square" lIns="0" tIns="0" rIns="0" bIns="0" rtlCol="0" anchor="t"/>
          <a:lstStyle/>
          <a:p>
            <a:pPr indent="0" marL="0">
              <a:buNone/>
            </a:pPr>
            <a:r>
              <a:rPr lang="en-US" sz="1400" b="1" dirty="0">
                <a:solidFill>
                  <a:srgbClr val="1F2A30"/>
                </a:solidFill>
                <a:latin typeface="Calibri" pitchFamily="34" charset="0"/>
                <a:ea typeface="Calibri" pitchFamily="34" charset="-122"/>
                <a:cs typeface="Calibri" pitchFamily="34" charset="-120"/>
              </a:rPr>
              <a:t>Check verified cache</a:t>
            </a:r>
            <a:endParaRPr lang="en-US" sz="1400" dirty="0"/>
          </a:p>
        </p:txBody>
      </p:sp>
      <p:sp>
        <p:nvSpPr>
          <p:cNvPr id="8" name="Text 6"/>
          <p:cNvSpPr txBox="1"/>
          <p:nvPr/>
        </p:nvSpPr>
        <p:spPr>
          <a:xfrm>
            <a:off x="594360" y="2221992"/>
            <a:ext cx="1554480" cy="274320"/>
          </a:xfrm>
          <a:prstGeom prst="rect">
            <a:avLst/>
          </a:prstGeom>
          <a:noFill/>
          <a:ln/>
        </p:spPr>
        <p:txBody>
          <a:bodyPr wrap="square" lIns="0" tIns="0" rIns="0" bIns="0" rtlCol="0" anchor="t"/>
          <a:lstStyle/>
          <a:p>
            <a:pPr indent="0" marL="0">
              <a:buNone/>
            </a:pPr>
            <a:r>
              <a:rPr lang="en-US" sz="1100" dirty="0">
                <a:solidFill>
                  <a:srgbClr val="5B6770"/>
                </a:solidFill>
                <a:latin typeface="Calibri" pitchFamily="34" charset="0"/>
                <a:ea typeface="Calibri" pitchFamily="34" charset="-122"/>
                <a:cs typeface="Calibri" pitchFamily="34" charset="-120"/>
              </a:rPr>
              <a:t>Repeat? Reuse the answer</a:t>
            </a:r>
            <a:endParaRPr lang="en-US" sz="1100" dirty="0"/>
          </a:p>
        </p:txBody>
      </p:sp>
      <p:sp>
        <p:nvSpPr>
          <p:cNvPr id="9" name="Shape 7"/>
          <p:cNvSpPr/>
          <p:nvPr/>
        </p:nvSpPr>
        <p:spPr>
          <a:xfrm>
            <a:off x="2331720" y="2080260"/>
            <a:ext cx="210312" cy="0"/>
          </a:xfrm>
          <a:prstGeom prst="line">
            <a:avLst/>
          </a:prstGeom>
          <a:noFill/>
          <a:ln w="19050">
            <a:solidFill>
              <a:srgbClr val="5B6770"/>
            </a:solidFill>
            <a:prstDash val="solid"/>
            <a:tailEnd type="triangle"/>
          </a:ln>
        </p:spPr>
      </p:sp>
      <p:sp>
        <p:nvSpPr>
          <p:cNvPr id="10" name="step-2"/>
          <p:cNvSpPr/>
          <p:nvPr/>
        </p:nvSpPr>
        <p:spPr>
          <a:xfrm>
            <a:off x="2587752" y="1600200"/>
            <a:ext cx="1828800" cy="960120"/>
          </a:xfrm>
          <a:prstGeom prst="roundRect">
            <a:avLst>
              <a:gd name="adj" fmla="val 7619"/>
            </a:avLst>
          </a:prstGeom>
          <a:solidFill>
            <a:srgbClr val="0F7C80"/>
          </a:solidFill>
          <a:ln w="15875">
            <a:solidFill>
              <a:srgbClr val="0F7C80"/>
            </a:solidFill>
            <a:prstDash val="solid"/>
          </a:ln>
        </p:spPr>
      </p:sp>
      <p:sp>
        <p:nvSpPr>
          <p:cNvPr id="11" name="Text 9"/>
          <p:cNvSpPr txBox="1"/>
          <p:nvPr/>
        </p:nvSpPr>
        <p:spPr>
          <a:xfrm>
            <a:off x="2724912" y="1709928"/>
            <a:ext cx="274320" cy="27432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txBox="1"/>
          <p:nvPr/>
        </p:nvSpPr>
        <p:spPr>
          <a:xfrm>
            <a:off x="2724912" y="1947672"/>
            <a:ext cx="1554480" cy="27432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Hybrid retrieval</a:t>
            </a:r>
            <a:endParaRPr lang="en-US" sz="1400" dirty="0"/>
          </a:p>
        </p:txBody>
      </p:sp>
      <p:sp>
        <p:nvSpPr>
          <p:cNvPr id="13" name="Text 11"/>
          <p:cNvSpPr txBox="1"/>
          <p:nvPr/>
        </p:nvSpPr>
        <p:spPr>
          <a:xfrm>
            <a:off x="2724912" y="2221992"/>
            <a:ext cx="1554480" cy="274320"/>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Vector + keyword search</a:t>
            </a:r>
            <a:endParaRPr lang="en-US" sz="1100" dirty="0"/>
          </a:p>
        </p:txBody>
      </p:sp>
      <p:sp>
        <p:nvSpPr>
          <p:cNvPr id="14" name="Shape 12"/>
          <p:cNvSpPr/>
          <p:nvPr/>
        </p:nvSpPr>
        <p:spPr>
          <a:xfrm>
            <a:off x="4462272" y="2080260"/>
            <a:ext cx="210312" cy="0"/>
          </a:xfrm>
          <a:prstGeom prst="line">
            <a:avLst/>
          </a:prstGeom>
          <a:noFill/>
          <a:ln w="19050">
            <a:solidFill>
              <a:srgbClr val="5B6770"/>
            </a:solidFill>
            <a:prstDash val="solid"/>
            <a:tailEnd type="triangle"/>
          </a:ln>
        </p:spPr>
      </p:sp>
      <p:sp>
        <p:nvSpPr>
          <p:cNvPr id="15" name="step-3"/>
          <p:cNvSpPr/>
          <p:nvPr/>
        </p:nvSpPr>
        <p:spPr>
          <a:xfrm>
            <a:off x="4718304" y="1600200"/>
            <a:ext cx="1828800" cy="960120"/>
          </a:xfrm>
          <a:prstGeom prst="roundRect">
            <a:avLst>
              <a:gd name="adj" fmla="val 7619"/>
            </a:avLst>
          </a:prstGeom>
          <a:solidFill>
            <a:srgbClr val="0F7C80"/>
          </a:solidFill>
          <a:ln w="15875">
            <a:solidFill>
              <a:srgbClr val="0F7C80"/>
            </a:solidFill>
            <a:prstDash val="solid"/>
          </a:ln>
        </p:spPr>
      </p:sp>
      <p:sp>
        <p:nvSpPr>
          <p:cNvPr id="16" name="Text 14"/>
          <p:cNvSpPr txBox="1"/>
          <p:nvPr/>
        </p:nvSpPr>
        <p:spPr>
          <a:xfrm>
            <a:off x="4855464" y="1709928"/>
            <a:ext cx="274320" cy="27432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txBox="1"/>
          <p:nvPr/>
        </p:nvSpPr>
        <p:spPr>
          <a:xfrm>
            <a:off x="4855464" y="1947672"/>
            <a:ext cx="1554480" cy="27432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Check the evidence</a:t>
            </a:r>
            <a:endParaRPr lang="en-US" sz="1400" dirty="0"/>
          </a:p>
        </p:txBody>
      </p:sp>
      <p:sp>
        <p:nvSpPr>
          <p:cNvPr id="18" name="Text 16"/>
          <p:cNvSpPr txBox="1"/>
          <p:nvPr/>
        </p:nvSpPr>
        <p:spPr>
          <a:xfrm>
            <a:off x="4855464" y="2221992"/>
            <a:ext cx="1554480" cy="274320"/>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Disagree? Search again</a:t>
            </a:r>
            <a:endParaRPr lang="en-US" sz="1100" dirty="0"/>
          </a:p>
        </p:txBody>
      </p:sp>
      <p:sp>
        <p:nvSpPr>
          <p:cNvPr id="19" name="Shape 17"/>
          <p:cNvSpPr/>
          <p:nvPr/>
        </p:nvSpPr>
        <p:spPr>
          <a:xfrm>
            <a:off x="6592824" y="2080260"/>
            <a:ext cx="210312" cy="0"/>
          </a:xfrm>
          <a:prstGeom prst="line">
            <a:avLst/>
          </a:prstGeom>
          <a:noFill/>
          <a:ln w="19050">
            <a:solidFill>
              <a:srgbClr val="5B6770"/>
            </a:solidFill>
            <a:prstDash val="solid"/>
            <a:tailEnd type="triangle"/>
          </a:ln>
        </p:spPr>
      </p:sp>
      <p:sp>
        <p:nvSpPr>
          <p:cNvPr id="20" name="step-4"/>
          <p:cNvSpPr/>
          <p:nvPr/>
        </p:nvSpPr>
        <p:spPr>
          <a:xfrm>
            <a:off x="6848856" y="1600200"/>
            <a:ext cx="1828800" cy="960120"/>
          </a:xfrm>
          <a:prstGeom prst="roundRect">
            <a:avLst>
              <a:gd name="adj" fmla="val 7619"/>
            </a:avLst>
          </a:prstGeom>
          <a:solidFill>
            <a:srgbClr val="0F7C80"/>
          </a:solidFill>
          <a:ln w="15875">
            <a:solidFill>
              <a:srgbClr val="0F7C80"/>
            </a:solidFill>
            <a:prstDash val="solid"/>
          </a:ln>
        </p:spPr>
      </p:sp>
      <p:sp>
        <p:nvSpPr>
          <p:cNvPr id="21" name="Text 19"/>
          <p:cNvSpPr txBox="1"/>
          <p:nvPr/>
        </p:nvSpPr>
        <p:spPr>
          <a:xfrm>
            <a:off x="6986016" y="1709928"/>
            <a:ext cx="274320" cy="27432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txBox="1"/>
          <p:nvPr/>
        </p:nvSpPr>
        <p:spPr>
          <a:xfrm>
            <a:off x="6986016" y="1947672"/>
            <a:ext cx="1554480" cy="27432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Answer or refuse</a:t>
            </a:r>
            <a:endParaRPr lang="en-US" sz="1400" dirty="0"/>
          </a:p>
        </p:txBody>
      </p:sp>
      <p:sp>
        <p:nvSpPr>
          <p:cNvPr id="23" name="Text 21"/>
          <p:cNvSpPr txBox="1"/>
          <p:nvPr/>
        </p:nvSpPr>
        <p:spPr>
          <a:xfrm>
            <a:off x="6986016" y="2221992"/>
            <a:ext cx="1554480" cy="274320"/>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Cite sources, or decline</a:t>
            </a:r>
            <a:endParaRPr lang="en-US" sz="1100" dirty="0"/>
          </a:p>
        </p:txBody>
      </p:sp>
      <p:sp>
        <p:nvSpPr>
          <p:cNvPr id="24" name="Text 22"/>
          <p:cNvSpPr txBox="1"/>
          <p:nvPr/>
        </p:nvSpPr>
        <p:spPr>
          <a:xfrm>
            <a:off x="457200" y="2670048"/>
            <a:ext cx="3657600" cy="228600"/>
          </a:xfrm>
          <a:prstGeom prst="rect">
            <a:avLst/>
          </a:prstGeom>
          <a:noFill/>
          <a:ln/>
        </p:spPr>
        <p:txBody>
          <a:bodyPr wrap="square" lIns="0" tIns="0" rIns="0" bIns="0" rtlCol="0" anchor="t"/>
          <a:lstStyle/>
          <a:p>
            <a:pPr indent="0" marL="0">
              <a:buNone/>
            </a:pPr>
            <a:r>
              <a:rPr lang="en-US" sz="1100" dirty="0">
                <a:solidFill>
                  <a:srgbClr val="0F7C80"/>
                </a:solidFill>
                <a:latin typeface="Calibri" pitchFamily="34" charset="0"/>
                <a:ea typeface="Calibri" pitchFamily="34" charset="-122"/>
                <a:cs typeface="Calibri" pitchFamily="34" charset="-120"/>
              </a:rPr>
              <a:t>■ </a:t>
            </a:r>
            <a:pPr indent="0" marL="0">
              <a:buNone/>
            </a:pPr>
            <a:r>
              <a:rPr lang="en-US" sz="1100" dirty="0">
                <a:solidFill>
                  <a:srgbClr val="5B6770"/>
                </a:solidFill>
                <a:latin typeface="Calibri" pitchFamily="34" charset="0"/>
                <a:ea typeface="Calibri" pitchFamily="34" charset="-122"/>
                <a:cs typeface="Calibri" pitchFamily="34" charset="-120"/>
              </a:rPr>
              <a:t>built      </a:t>
            </a:r>
            <a:pPr indent="0" marL="0">
              <a:buNone/>
            </a:pPr>
            <a:r>
              <a:rPr lang="en-US" sz="1100" dirty="0">
                <a:solidFill>
                  <a:srgbClr val="5B6770"/>
                </a:solidFill>
                <a:latin typeface="Calibri" pitchFamily="34" charset="0"/>
                <a:ea typeface="Calibri" pitchFamily="34" charset="-122"/>
                <a:cs typeface="Calibri" pitchFamily="34" charset="-120"/>
              </a:rPr>
              <a:t>□ </a:t>
            </a:r>
            <a:pPr indent="0" marL="0">
              <a:buNone/>
            </a:pPr>
            <a:r>
              <a:rPr lang="en-US" sz="1100" dirty="0">
                <a:solidFill>
                  <a:srgbClr val="5B6770"/>
                </a:solidFill>
                <a:latin typeface="Calibri" pitchFamily="34" charset="0"/>
                <a:ea typeface="Calibri" pitchFamily="34" charset="-122"/>
                <a:cs typeface="Calibri" pitchFamily="34" charset="-120"/>
              </a:rPr>
              <a:t>planned</a:t>
            </a:r>
            <a:endParaRPr lang="en-US" sz="1100" dirty="0"/>
          </a:p>
        </p:txBody>
      </p:sp>
      <p:sp>
        <p:nvSpPr>
          <p:cNvPr id="25" name="prior-work"/>
          <p:cNvSpPr/>
          <p:nvPr/>
        </p:nvSpPr>
        <p:spPr>
          <a:xfrm>
            <a:off x="457200" y="3108960"/>
            <a:ext cx="4005072" cy="1508760"/>
          </a:xfrm>
          <a:prstGeom prst="roundRect">
            <a:avLst>
              <a:gd name="adj" fmla="val 4848"/>
            </a:avLst>
          </a:prstGeom>
          <a:solidFill>
            <a:srgbClr val="F1F3F4"/>
          </a:solidFill>
          <a:ln w="12700">
            <a:solidFill>
              <a:srgbClr val="F1F3F4"/>
            </a:solidFill>
            <a:prstDash val="solid"/>
          </a:ln>
        </p:spPr>
      </p:sp>
      <p:sp>
        <p:nvSpPr>
          <p:cNvPr id="26" name="Text 24"/>
          <p:cNvSpPr txBox="1"/>
          <p:nvPr/>
        </p:nvSpPr>
        <p:spPr>
          <a:xfrm>
            <a:off x="658368" y="3291840"/>
            <a:ext cx="3657600" cy="228600"/>
          </a:xfrm>
          <a:prstGeom prst="rect">
            <a:avLst/>
          </a:prstGeom>
          <a:noFill/>
          <a:ln/>
        </p:spPr>
        <p:txBody>
          <a:bodyPr wrap="square" lIns="0" tIns="0" rIns="0" bIns="0" rtlCol="0" anchor="t"/>
          <a:lstStyle/>
          <a:p>
            <a:pPr indent="0" marL="0">
              <a:buNone/>
            </a:pPr>
            <a:r>
              <a:rPr lang="en-US" sz="1100" b="1" spc="100" kern="0" dirty="0">
                <a:solidFill>
                  <a:srgbClr val="5B6770"/>
                </a:solidFill>
                <a:latin typeface="Calibri" pitchFamily="34" charset="0"/>
                <a:ea typeface="Calibri" pitchFamily="34" charset="-122"/>
                <a:cs typeface="Calibri" pitchFamily="34" charset="-120"/>
              </a:rPr>
              <a:t>PRIOR WORK</a:t>
            </a:r>
            <a:endParaRPr lang="en-US" sz="1100" dirty="0"/>
          </a:p>
        </p:txBody>
      </p:sp>
      <p:sp>
        <p:nvSpPr>
          <p:cNvPr id="27" name="Text 25"/>
          <p:cNvSpPr txBox="1"/>
          <p:nvPr/>
        </p:nvSpPr>
        <p:spPr>
          <a:xfrm>
            <a:off x="658368" y="3584448"/>
            <a:ext cx="3602736" cy="914400"/>
          </a:xfrm>
          <a:prstGeom prst="rect">
            <a:avLst/>
          </a:prstGeom>
          <a:noFill/>
          <a:ln/>
        </p:spPr>
        <p:txBody>
          <a:bodyPr wrap="square" lIns="0" tIns="0" rIns="0" bIns="0" rtlCol="0" anchor="t"/>
          <a:lstStyle/>
          <a:p>
            <a:pPr indent="0" marL="0">
              <a:spcAft>
                <a:spcPts val="600"/>
              </a:spcAft>
              <a:buNone/>
            </a:pPr>
            <a:r>
              <a:rPr lang="en-US" sz="1400" b="1" dirty="0">
                <a:solidFill>
                  <a:srgbClr val="1F2A30"/>
                </a:solidFill>
                <a:latin typeface="Calibri" pitchFamily="34" charset="0"/>
                <a:ea typeface="Calibri" pitchFamily="34" charset="-122"/>
                <a:cs typeface="Calibri" pitchFamily="34" charset="-120"/>
              </a:rPr>
              <a:t>Adaptive-RAG </a:t>
            </a:r>
            <a:pPr indent="0" marL="0">
              <a:spcAft>
                <a:spcPts val="600"/>
              </a:spcAft>
              <a:buNone/>
            </a:pPr>
            <a:r>
              <a:rPr lang="en-US" sz="1400" dirty="0">
                <a:solidFill>
                  <a:srgbClr val="1F2A30"/>
                </a:solidFill>
                <a:latin typeface="Calibri" pitchFamily="34" charset="0"/>
                <a:ea typeface="Calibri" pitchFamily="34" charset="-122"/>
                <a:cs typeface="Calibri" pitchFamily="34" charset="-120"/>
              </a:rPr>
              <a:t>(Jeong et al., 2024): routes by question complexity</a:t>
            </a:r>
            <a:endParaRPr lang="en-US" sz="1400" dirty="0"/>
          </a:p>
          <a:p>
            <a:pPr indent="0" marL="0">
              <a:spcAft>
                <a:spcPts val="600"/>
              </a:spcAft>
              <a:buNone/>
            </a:pPr>
            <a:r>
              <a:rPr lang="en-US" sz="1400" b="1" dirty="0">
                <a:solidFill>
                  <a:srgbClr val="1F2A30"/>
                </a:solidFill>
                <a:latin typeface="Calibri" pitchFamily="34" charset="0"/>
                <a:ea typeface="Calibri" pitchFamily="34" charset="-122"/>
                <a:cs typeface="Calibri" pitchFamily="34" charset="-120"/>
              </a:rPr>
              <a:t>Self-RAG </a:t>
            </a:r>
            <a:pPr indent="0" marL="0">
              <a:spcAft>
                <a:spcPts val="600"/>
              </a:spcAft>
              <a:buNone/>
            </a:pPr>
            <a:r>
              <a:rPr lang="en-US" sz="1400" dirty="0">
                <a:solidFill>
                  <a:srgbClr val="1F2A30"/>
                </a:solidFill>
                <a:latin typeface="Calibri" pitchFamily="34" charset="0"/>
                <a:ea typeface="Calibri" pitchFamily="34" charset="-122"/>
                <a:cs typeface="Calibri" pitchFamily="34" charset="-120"/>
              </a:rPr>
              <a:t>(Asai et al., 2024): learns when to retrieve, critiques itself</a:t>
            </a:r>
            <a:endParaRPr lang="en-US" sz="1400" dirty="0"/>
          </a:p>
        </p:txBody>
      </p:sp>
      <p:sp>
        <p:nvSpPr>
          <p:cNvPr id="28" name="our-angle"/>
          <p:cNvSpPr/>
          <p:nvPr/>
        </p:nvSpPr>
        <p:spPr>
          <a:xfrm>
            <a:off x="4681728" y="3108960"/>
            <a:ext cx="4005072" cy="1508760"/>
          </a:xfrm>
          <a:prstGeom prst="roundRect">
            <a:avLst>
              <a:gd name="adj" fmla="val 4848"/>
            </a:avLst>
          </a:prstGeom>
          <a:solidFill>
            <a:srgbClr val="E3F1F1"/>
          </a:solidFill>
          <a:ln w="12700">
            <a:solidFill>
              <a:srgbClr val="E3F1F1"/>
            </a:solidFill>
            <a:prstDash val="solid"/>
          </a:ln>
        </p:spPr>
      </p:sp>
      <p:sp>
        <p:nvSpPr>
          <p:cNvPr id="29" name="Text 27"/>
          <p:cNvSpPr txBox="1"/>
          <p:nvPr/>
        </p:nvSpPr>
        <p:spPr>
          <a:xfrm>
            <a:off x="4882896" y="3291840"/>
            <a:ext cx="3657600" cy="228600"/>
          </a:xfrm>
          <a:prstGeom prst="rect">
            <a:avLst/>
          </a:prstGeom>
          <a:noFill/>
          <a:ln/>
        </p:spPr>
        <p:txBody>
          <a:bodyPr wrap="square" lIns="0" tIns="0" rIns="0" bIns="0" rtlCol="0" anchor="t"/>
          <a:lstStyle/>
          <a:p>
            <a:pPr indent="0" marL="0">
              <a:buNone/>
            </a:pPr>
            <a:r>
              <a:rPr lang="en-US" sz="1100" b="1" spc="100" kern="0" dirty="0">
                <a:solidFill>
                  <a:srgbClr val="0F7C80"/>
                </a:solidFill>
                <a:latin typeface="Calibri" pitchFamily="34" charset="0"/>
                <a:ea typeface="Calibri" pitchFamily="34" charset="-122"/>
                <a:cs typeface="Calibri" pitchFamily="34" charset="-120"/>
              </a:rPr>
              <a:t>OUR ANGLE</a:t>
            </a:r>
            <a:endParaRPr lang="en-US" sz="1100" dirty="0"/>
          </a:p>
        </p:txBody>
      </p:sp>
      <p:sp>
        <p:nvSpPr>
          <p:cNvPr id="30" name="Text 28"/>
          <p:cNvSpPr txBox="1"/>
          <p:nvPr/>
        </p:nvSpPr>
        <p:spPr>
          <a:xfrm>
            <a:off x="4882896" y="3584448"/>
            <a:ext cx="3602736" cy="914400"/>
          </a:xfrm>
          <a:prstGeom prst="rect">
            <a:avLst/>
          </a:prstGeom>
          <a:noFill/>
          <a:ln/>
        </p:spPr>
        <p:txBody>
          <a:bodyPr wrap="square" lIns="0" tIns="0" rIns="0" bIns="0" rtlCol="0" anchor="t"/>
          <a:lstStyle/>
          <a:p>
            <a:pPr indent="0" marL="0">
              <a:buNone/>
            </a:pPr>
            <a:r>
              <a:rPr lang="en-US" sz="1400" dirty="0">
                <a:solidFill>
                  <a:srgbClr val="1F2A30"/>
                </a:solidFill>
                <a:latin typeface="Calibri" pitchFamily="34" charset="0"/>
                <a:ea typeface="Calibri" pitchFamily="34" charset="-122"/>
                <a:cs typeface="Calibri" pitchFamily="34" charset="-120"/>
              </a:rPr>
              <a:t>They decide when to retrieve. We decide </a:t>
            </a:r>
            <a:pPr indent="0" marL="0">
              <a:buNone/>
            </a:pPr>
            <a:r>
              <a:rPr lang="en-US" sz="1400" b="1" dirty="0">
                <a:solidFill>
                  <a:srgbClr val="1F2A30"/>
                </a:solidFill>
                <a:latin typeface="Calibri" pitchFamily="34" charset="0"/>
                <a:ea typeface="Calibri" pitchFamily="34" charset="-122"/>
                <a:cs typeface="Calibri" pitchFamily="34" charset="-120"/>
              </a:rPr>
              <a:t>how much effort</a:t>
            </a:r>
            <a:pPr indent="0" marL="0">
              <a:buNone/>
            </a:pPr>
            <a:r>
              <a:rPr lang="en-US" sz="1400" dirty="0">
                <a:solidFill>
                  <a:srgbClr val="1F2A30"/>
                </a:solidFill>
                <a:latin typeface="Calibri" pitchFamily="34" charset="0"/>
                <a:ea typeface="Calibri" pitchFamily="34" charset="-122"/>
                <a:cs typeface="Calibri" pitchFamily="34" charset="-120"/>
              </a:rPr>
              <a:t> an enterprise question deserves (reuse, retry once, or refuse) and measure quality against latency and cost.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28600"/>
          </a:xfrm>
          <a:prstGeom prst="rect">
            <a:avLst/>
          </a:prstGeom>
          <a:noFill/>
          <a:ln/>
        </p:spPr>
        <p:txBody>
          <a:bodyPr wrap="square" lIns="0" tIns="0" rIns="0" bIns="0" rtlCol="0" anchor="t"/>
          <a:lstStyle/>
          <a:p>
            <a:pPr indent="0" marL="0">
              <a:buNone/>
            </a:pPr>
            <a:r>
              <a:rPr lang="en-US" sz="1100" b="1" spc="100" kern="0" dirty="0">
                <a:solidFill>
                  <a:srgbClr val="0F7C80"/>
                </a:solidFill>
                <a:latin typeface="Calibri" pitchFamily="34" charset="0"/>
                <a:ea typeface="Calibri" pitchFamily="34" charset="-122"/>
                <a:cs typeface="Calibri" pitchFamily="34" charset="-120"/>
              </a:rPr>
              <a:t>WHAT WE HAVE LEARNED</a:t>
            </a:r>
            <a:endParaRPr lang="en-US" sz="1100" dirty="0"/>
          </a:p>
        </p:txBody>
      </p:sp>
      <p:sp>
        <p:nvSpPr>
          <p:cNvPr id="3" name="Text 1"/>
          <p:cNvSpPr txBox="1"/>
          <p:nvPr/>
        </p:nvSpPr>
        <p:spPr>
          <a:xfrm>
            <a:off x="457200" y="530352"/>
            <a:ext cx="8229600" cy="502920"/>
          </a:xfrm>
          <a:prstGeom prst="rect">
            <a:avLst/>
          </a:prstGeom>
          <a:noFill/>
          <a:ln/>
        </p:spPr>
        <p:txBody>
          <a:bodyPr wrap="square" lIns="0" tIns="0" rIns="0" bIns="0" rtlCol="0" anchor="t"/>
          <a:lstStyle/>
          <a:p>
            <a:pPr indent="0" marL="0">
              <a:buNone/>
            </a:pPr>
            <a:r>
              <a:rPr lang="en-US" sz="2800" b="1" dirty="0">
                <a:solidFill>
                  <a:srgbClr val="1F2A30"/>
                </a:solidFill>
                <a:latin typeface="Calibri" pitchFamily="34" charset="0"/>
                <a:ea typeface="Calibri" pitchFamily="34" charset="-122"/>
                <a:cs typeface="Calibri" pitchFamily="34" charset="-120"/>
              </a:rPr>
              <a:t>Search harder only when it is needed</a:t>
            </a:r>
            <a:endParaRPr lang="en-US" sz="2800" dirty="0"/>
          </a:p>
        </p:txBody>
      </p:sp>
      <p:sp>
        <p:nvSpPr>
          <p:cNvPr id="4" name="Text 2"/>
          <p:cNvSpPr txBox="1"/>
          <p:nvPr/>
        </p:nvSpPr>
        <p:spPr>
          <a:xfrm>
            <a:off x="457200" y="1033272"/>
            <a:ext cx="8229600" cy="274320"/>
          </a:xfrm>
          <a:prstGeom prst="rect">
            <a:avLst/>
          </a:prstGeom>
          <a:noFill/>
          <a:ln/>
        </p:spPr>
        <p:txBody>
          <a:bodyPr wrap="square" lIns="0" tIns="0" rIns="0" bIns="0" rtlCol="0" anchor="t"/>
          <a:lstStyle/>
          <a:p>
            <a:pPr indent="0" marL="0">
              <a:buNone/>
            </a:pPr>
            <a:r>
              <a:rPr lang="en-US" sz="1400" dirty="0">
                <a:solidFill>
                  <a:srgbClr val="5B6770"/>
                </a:solidFill>
                <a:latin typeface="Calibri" pitchFamily="34" charset="0"/>
                <a:ea typeface="Calibri" pitchFamily="34" charset="-122"/>
                <a:cs typeface="Calibri" pitchFamily="34" charset="-120"/>
              </a:rPr>
              <a:t>Extra LLM-assisted search runs only when keyword and vector search disagree on the top document</a:t>
            </a:r>
            <a:endParaRPr lang="en-US" sz="1400" dirty="0"/>
          </a:p>
        </p:txBody>
      </p:sp>
      <p:sp>
        <p:nvSpPr>
          <p:cNvPr id="5" name="Text 3"/>
          <p:cNvSpPr txBox="1"/>
          <p:nvPr/>
        </p:nvSpPr>
        <p:spPr>
          <a:xfrm>
            <a:off x="2743200" y="1481328"/>
            <a:ext cx="868680" cy="228600"/>
          </a:xfrm>
          <a:prstGeom prst="rect">
            <a:avLst/>
          </a:prstGeom>
          <a:noFill/>
          <a:ln/>
        </p:spPr>
        <p:txBody>
          <a:bodyPr wrap="square" lIns="0" tIns="0" rIns="0" bIns="0" rtlCol="0" anchor="t"/>
          <a:lstStyle/>
          <a:p>
            <a:pPr algn="r" indent="0" marL="0">
              <a:buNone/>
            </a:pPr>
            <a:r>
              <a:rPr lang="en-US" sz="1000" b="1" dirty="0">
                <a:solidFill>
                  <a:srgbClr val="5B6770"/>
                </a:solidFill>
                <a:latin typeface="Calibri" pitchFamily="34" charset="0"/>
                <a:ea typeface="Calibri" pitchFamily="34" charset="-122"/>
                <a:cs typeface="Calibri" pitchFamily="34" charset="-120"/>
              </a:rPr>
              <a:t>Ranking quality</a:t>
            </a:r>
            <a:endParaRPr lang="en-US" sz="1000" dirty="0"/>
          </a:p>
        </p:txBody>
      </p:sp>
      <p:sp>
        <p:nvSpPr>
          <p:cNvPr id="6" name="Text 4"/>
          <p:cNvSpPr txBox="1"/>
          <p:nvPr/>
        </p:nvSpPr>
        <p:spPr>
          <a:xfrm>
            <a:off x="3886200" y="1481328"/>
            <a:ext cx="822960" cy="228600"/>
          </a:xfrm>
          <a:prstGeom prst="rect">
            <a:avLst/>
          </a:prstGeom>
          <a:noFill/>
          <a:ln/>
        </p:spPr>
        <p:txBody>
          <a:bodyPr wrap="square" lIns="0" tIns="0" rIns="0" bIns="0" rtlCol="0" anchor="t"/>
          <a:lstStyle/>
          <a:p>
            <a:pPr algn="r" indent="0" marL="0">
              <a:buNone/>
            </a:pPr>
            <a:r>
              <a:rPr lang="en-US" sz="1000" b="1" dirty="0">
                <a:solidFill>
                  <a:srgbClr val="5B6770"/>
                </a:solidFill>
                <a:latin typeface="Calibri" pitchFamily="34" charset="0"/>
                <a:ea typeface="Calibri" pitchFamily="34" charset="-122"/>
                <a:cs typeface="Calibri" pitchFamily="34" charset="-120"/>
              </a:rPr>
              <a:t>Latency</a:t>
            </a:r>
            <a:endParaRPr lang="en-US" sz="1000" dirty="0"/>
          </a:p>
        </p:txBody>
      </p:sp>
      <p:sp>
        <p:nvSpPr>
          <p:cNvPr id="7" name="Text 5"/>
          <p:cNvSpPr txBox="1"/>
          <p:nvPr/>
        </p:nvSpPr>
        <p:spPr>
          <a:xfrm>
            <a:off x="502920" y="1819656"/>
            <a:ext cx="2468880" cy="274320"/>
          </a:xfrm>
          <a:prstGeom prst="rect">
            <a:avLst/>
          </a:prstGeom>
          <a:noFill/>
          <a:ln/>
        </p:spPr>
        <p:txBody>
          <a:bodyPr wrap="square" lIns="0" tIns="0" rIns="0" bIns="0" rtlCol="0" anchor="t"/>
          <a:lstStyle/>
          <a:p>
            <a:pPr indent="0" marL="0">
              <a:buNone/>
            </a:pPr>
            <a:r>
              <a:rPr lang="en-US" sz="1400" dirty="0">
                <a:solidFill>
                  <a:srgbClr val="1F2A30"/>
                </a:solidFill>
                <a:latin typeface="Calibri" pitchFamily="34" charset="0"/>
                <a:ea typeface="Calibri" pitchFamily="34" charset="-122"/>
                <a:cs typeface="Calibri" pitchFamily="34" charset="-120"/>
              </a:rPr>
              <a:t>Vector search only</a:t>
            </a:r>
            <a:endParaRPr lang="en-US" sz="1400" dirty="0"/>
          </a:p>
        </p:txBody>
      </p:sp>
      <p:sp>
        <p:nvSpPr>
          <p:cNvPr id="8" name="Text 6"/>
          <p:cNvSpPr txBox="1"/>
          <p:nvPr/>
        </p:nvSpPr>
        <p:spPr>
          <a:xfrm>
            <a:off x="3063240" y="1819656"/>
            <a:ext cx="548640" cy="274320"/>
          </a:xfrm>
          <a:prstGeom prst="rect">
            <a:avLst/>
          </a:prstGeom>
          <a:noFill/>
          <a:ln/>
        </p:spPr>
        <p:txBody>
          <a:bodyPr wrap="square" lIns="0" tIns="0" rIns="0" bIns="0" rtlCol="0" anchor="t"/>
          <a:lstStyle/>
          <a:p>
            <a:pPr algn="r" indent="0" marL="0">
              <a:buNone/>
            </a:pPr>
            <a:r>
              <a:rPr lang="en-US" sz="1400" dirty="0">
                <a:solidFill>
                  <a:srgbClr val="1F2A30"/>
                </a:solidFill>
                <a:latin typeface="Calibri" pitchFamily="34" charset="0"/>
                <a:ea typeface="Calibri" pitchFamily="34" charset="-122"/>
                <a:cs typeface="Calibri" pitchFamily="34" charset="-120"/>
              </a:rPr>
              <a:t>0.807</a:t>
            </a:r>
            <a:endParaRPr lang="en-US" sz="1400" dirty="0"/>
          </a:p>
        </p:txBody>
      </p:sp>
      <p:sp>
        <p:nvSpPr>
          <p:cNvPr id="9" name="Text 7"/>
          <p:cNvSpPr txBox="1"/>
          <p:nvPr/>
        </p:nvSpPr>
        <p:spPr>
          <a:xfrm>
            <a:off x="3886200" y="1819656"/>
            <a:ext cx="822960" cy="274320"/>
          </a:xfrm>
          <a:prstGeom prst="rect">
            <a:avLst/>
          </a:prstGeom>
          <a:noFill/>
          <a:ln/>
        </p:spPr>
        <p:txBody>
          <a:bodyPr wrap="square" lIns="0" tIns="0" rIns="0" bIns="0" rtlCol="0" anchor="t"/>
          <a:lstStyle/>
          <a:p>
            <a:pPr algn="r" indent="0" marL="0">
              <a:buNone/>
            </a:pPr>
            <a:r>
              <a:rPr lang="en-US" sz="1400" dirty="0">
                <a:solidFill>
                  <a:srgbClr val="1F2A30"/>
                </a:solidFill>
                <a:latin typeface="Calibri" pitchFamily="34" charset="0"/>
                <a:ea typeface="Calibri" pitchFamily="34" charset="-122"/>
                <a:cs typeface="Calibri" pitchFamily="34" charset="-120"/>
              </a:rPr>
              <a:t>30 ms</a:t>
            </a:r>
            <a:endParaRPr lang="en-US" sz="1400" dirty="0"/>
          </a:p>
        </p:txBody>
      </p:sp>
      <p:sp>
        <p:nvSpPr>
          <p:cNvPr id="10" name="Shape 8"/>
          <p:cNvSpPr/>
          <p:nvPr/>
        </p:nvSpPr>
        <p:spPr>
          <a:xfrm>
            <a:off x="457200" y="2167128"/>
            <a:ext cx="4251960" cy="0"/>
          </a:xfrm>
          <a:prstGeom prst="line">
            <a:avLst/>
          </a:prstGeom>
          <a:noFill/>
          <a:ln w="12700">
            <a:solidFill>
              <a:srgbClr val="F1F3F4"/>
            </a:solidFill>
            <a:prstDash val="solid"/>
          </a:ln>
        </p:spPr>
      </p:sp>
      <p:sp>
        <p:nvSpPr>
          <p:cNvPr id="11" name="Text 9"/>
          <p:cNvSpPr txBox="1"/>
          <p:nvPr/>
        </p:nvSpPr>
        <p:spPr>
          <a:xfrm>
            <a:off x="502920" y="2258568"/>
            <a:ext cx="2468880" cy="274320"/>
          </a:xfrm>
          <a:prstGeom prst="rect">
            <a:avLst/>
          </a:prstGeom>
          <a:noFill/>
          <a:ln/>
        </p:spPr>
        <p:txBody>
          <a:bodyPr wrap="square" lIns="0" tIns="0" rIns="0" bIns="0" rtlCol="0" anchor="t"/>
          <a:lstStyle/>
          <a:p>
            <a:pPr indent="0" marL="0">
              <a:buNone/>
            </a:pPr>
            <a:r>
              <a:rPr lang="en-US" sz="1400" dirty="0">
                <a:solidFill>
                  <a:srgbClr val="1F2A30"/>
                </a:solidFill>
                <a:latin typeface="Calibri" pitchFamily="34" charset="0"/>
                <a:ea typeface="Calibri" pitchFamily="34" charset="-122"/>
                <a:cs typeface="Calibri" pitchFamily="34" charset="-120"/>
              </a:rPr>
              <a:t>Hybrid: vector + keyword</a:t>
            </a:r>
            <a:endParaRPr lang="en-US" sz="1400" dirty="0"/>
          </a:p>
        </p:txBody>
      </p:sp>
      <p:sp>
        <p:nvSpPr>
          <p:cNvPr id="12" name="Text 10"/>
          <p:cNvSpPr txBox="1"/>
          <p:nvPr/>
        </p:nvSpPr>
        <p:spPr>
          <a:xfrm>
            <a:off x="3063240" y="2258568"/>
            <a:ext cx="548640" cy="274320"/>
          </a:xfrm>
          <a:prstGeom prst="rect">
            <a:avLst/>
          </a:prstGeom>
          <a:noFill/>
          <a:ln/>
        </p:spPr>
        <p:txBody>
          <a:bodyPr wrap="square" lIns="0" tIns="0" rIns="0" bIns="0" rtlCol="0" anchor="t"/>
          <a:lstStyle/>
          <a:p>
            <a:pPr algn="r" indent="0" marL="0">
              <a:buNone/>
            </a:pPr>
            <a:r>
              <a:rPr lang="en-US" sz="1400" dirty="0">
                <a:solidFill>
                  <a:srgbClr val="1F2A30"/>
                </a:solidFill>
                <a:latin typeface="Calibri" pitchFamily="34" charset="0"/>
                <a:ea typeface="Calibri" pitchFamily="34" charset="-122"/>
                <a:cs typeface="Calibri" pitchFamily="34" charset="-120"/>
              </a:rPr>
              <a:t>0.846</a:t>
            </a:r>
            <a:endParaRPr lang="en-US" sz="1400" dirty="0"/>
          </a:p>
        </p:txBody>
      </p:sp>
      <p:sp>
        <p:nvSpPr>
          <p:cNvPr id="13" name="Text 11"/>
          <p:cNvSpPr txBox="1"/>
          <p:nvPr/>
        </p:nvSpPr>
        <p:spPr>
          <a:xfrm>
            <a:off x="3886200" y="2258568"/>
            <a:ext cx="822960" cy="274320"/>
          </a:xfrm>
          <a:prstGeom prst="rect">
            <a:avLst/>
          </a:prstGeom>
          <a:noFill/>
          <a:ln/>
        </p:spPr>
        <p:txBody>
          <a:bodyPr wrap="square" lIns="0" tIns="0" rIns="0" bIns="0" rtlCol="0" anchor="t"/>
          <a:lstStyle/>
          <a:p>
            <a:pPr algn="r" indent="0" marL="0">
              <a:buNone/>
            </a:pPr>
            <a:r>
              <a:rPr lang="en-US" sz="1400" dirty="0">
                <a:solidFill>
                  <a:srgbClr val="1F2A30"/>
                </a:solidFill>
                <a:latin typeface="Calibri" pitchFamily="34" charset="0"/>
                <a:ea typeface="Calibri" pitchFamily="34" charset="-122"/>
                <a:cs typeface="Calibri" pitchFamily="34" charset="-120"/>
              </a:rPr>
              <a:t>30 ms</a:t>
            </a:r>
            <a:endParaRPr lang="en-US" sz="1400" dirty="0"/>
          </a:p>
        </p:txBody>
      </p:sp>
      <p:sp>
        <p:nvSpPr>
          <p:cNvPr id="14" name="Shape 12"/>
          <p:cNvSpPr/>
          <p:nvPr/>
        </p:nvSpPr>
        <p:spPr>
          <a:xfrm>
            <a:off x="457200" y="2606040"/>
            <a:ext cx="4251960" cy="0"/>
          </a:xfrm>
          <a:prstGeom prst="line">
            <a:avLst/>
          </a:prstGeom>
          <a:noFill/>
          <a:ln w="12700">
            <a:solidFill>
              <a:srgbClr val="F1F3F4"/>
            </a:solidFill>
            <a:prstDash val="solid"/>
          </a:ln>
        </p:spPr>
      </p:sp>
      <p:sp>
        <p:nvSpPr>
          <p:cNvPr id="15" name="Text 13"/>
          <p:cNvSpPr txBox="1"/>
          <p:nvPr/>
        </p:nvSpPr>
        <p:spPr>
          <a:xfrm>
            <a:off x="502920" y="2697480"/>
            <a:ext cx="2468880" cy="274320"/>
          </a:xfrm>
          <a:prstGeom prst="rect">
            <a:avLst/>
          </a:prstGeom>
          <a:noFill/>
          <a:ln/>
        </p:spPr>
        <p:txBody>
          <a:bodyPr wrap="square" lIns="0" tIns="0" rIns="0" bIns="0" rtlCol="0" anchor="t"/>
          <a:lstStyle/>
          <a:p>
            <a:pPr indent="0" marL="0">
              <a:buNone/>
            </a:pPr>
            <a:r>
              <a:rPr lang="en-US" sz="1400" dirty="0">
                <a:solidFill>
                  <a:srgbClr val="1F2A30"/>
                </a:solidFill>
                <a:latin typeface="Calibri" pitchFamily="34" charset="0"/>
                <a:ea typeface="Calibri" pitchFamily="34" charset="-122"/>
                <a:cs typeface="Calibri" pitchFamily="34" charset="-120"/>
              </a:rPr>
              <a:t>+ extra search, every question</a:t>
            </a:r>
            <a:endParaRPr lang="en-US" sz="1400" dirty="0"/>
          </a:p>
        </p:txBody>
      </p:sp>
      <p:sp>
        <p:nvSpPr>
          <p:cNvPr id="16" name="Text 14"/>
          <p:cNvSpPr txBox="1"/>
          <p:nvPr/>
        </p:nvSpPr>
        <p:spPr>
          <a:xfrm>
            <a:off x="3063240" y="2697480"/>
            <a:ext cx="548640" cy="274320"/>
          </a:xfrm>
          <a:prstGeom prst="rect">
            <a:avLst/>
          </a:prstGeom>
          <a:noFill/>
          <a:ln/>
        </p:spPr>
        <p:txBody>
          <a:bodyPr wrap="square" lIns="0" tIns="0" rIns="0" bIns="0" rtlCol="0" anchor="t"/>
          <a:lstStyle/>
          <a:p>
            <a:pPr algn="r" indent="0" marL="0">
              <a:buNone/>
            </a:pPr>
            <a:r>
              <a:rPr lang="en-US" sz="1400" dirty="0">
                <a:solidFill>
                  <a:srgbClr val="1F2A30"/>
                </a:solidFill>
                <a:latin typeface="Calibri" pitchFamily="34" charset="0"/>
                <a:ea typeface="Calibri" pitchFamily="34" charset="-122"/>
                <a:cs typeface="Calibri" pitchFamily="34" charset="-120"/>
              </a:rPr>
              <a:t>0.825</a:t>
            </a:r>
            <a:endParaRPr lang="en-US" sz="1400" dirty="0"/>
          </a:p>
        </p:txBody>
      </p:sp>
      <p:sp>
        <p:nvSpPr>
          <p:cNvPr id="17" name="Text 15"/>
          <p:cNvSpPr txBox="1"/>
          <p:nvPr/>
        </p:nvSpPr>
        <p:spPr>
          <a:xfrm>
            <a:off x="3886200" y="2697480"/>
            <a:ext cx="822960" cy="274320"/>
          </a:xfrm>
          <a:prstGeom prst="rect">
            <a:avLst/>
          </a:prstGeom>
          <a:noFill/>
          <a:ln/>
        </p:spPr>
        <p:txBody>
          <a:bodyPr wrap="square" lIns="0" tIns="0" rIns="0" bIns="0" rtlCol="0" anchor="t"/>
          <a:lstStyle/>
          <a:p>
            <a:pPr algn="r" indent="0" marL="0">
              <a:buNone/>
            </a:pPr>
            <a:r>
              <a:rPr lang="en-US" sz="1400" dirty="0">
                <a:solidFill>
                  <a:srgbClr val="1F2A30"/>
                </a:solidFill>
                <a:latin typeface="Calibri" pitchFamily="34" charset="0"/>
                <a:ea typeface="Calibri" pitchFamily="34" charset="-122"/>
                <a:cs typeface="Calibri" pitchFamily="34" charset="-120"/>
              </a:rPr>
              <a:t>1,320 ms</a:t>
            </a:r>
            <a:endParaRPr lang="en-US" sz="1400" dirty="0"/>
          </a:p>
        </p:txBody>
      </p:sp>
      <p:sp>
        <p:nvSpPr>
          <p:cNvPr id="18" name="best-row"/>
          <p:cNvSpPr/>
          <p:nvPr/>
        </p:nvSpPr>
        <p:spPr>
          <a:xfrm>
            <a:off x="365760" y="3044952"/>
            <a:ext cx="4434840" cy="438912"/>
          </a:xfrm>
          <a:prstGeom prst="roundRect">
            <a:avLst>
              <a:gd name="adj" fmla="val 12500"/>
            </a:avLst>
          </a:prstGeom>
          <a:solidFill>
            <a:srgbClr val="E3F1F1"/>
          </a:solidFill>
          <a:ln w="12700">
            <a:solidFill>
              <a:srgbClr val="E3F1F1"/>
            </a:solidFill>
            <a:prstDash val="solid"/>
          </a:ln>
        </p:spPr>
      </p:sp>
      <p:sp>
        <p:nvSpPr>
          <p:cNvPr id="19" name="Text 17"/>
          <p:cNvSpPr txBox="1"/>
          <p:nvPr/>
        </p:nvSpPr>
        <p:spPr>
          <a:xfrm>
            <a:off x="502920" y="3136392"/>
            <a:ext cx="2468880" cy="274320"/>
          </a:xfrm>
          <a:prstGeom prst="rect">
            <a:avLst/>
          </a:prstGeom>
          <a:noFill/>
          <a:ln/>
        </p:spPr>
        <p:txBody>
          <a:bodyPr wrap="square" lIns="0" tIns="0" rIns="0" bIns="0" rtlCol="0" anchor="t"/>
          <a:lstStyle/>
          <a:p>
            <a:pPr indent="0" marL="0">
              <a:buNone/>
            </a:pPr>
            <a:r>
              <a:rPr lang="en-US" sz="1400" b="1" dirty="0">
                <a:solidFill>
                  <a:srgbClr val="0F7C80"/>
                </a:solidFill>
                <a:latin typeface="Calibri" pitchFamily="34" charset="0"/>
                <a:ea typeface="Calibri" pitchFamily="34" charset="-122"/>
                <a:cs typeface="Calibri" pitchFamily="34" charset="-120"/>
              </a:rPr>
              <a:t>+ extra search, when needed</a:t>
            </a:r>
            <a:endParaRPr lang="en-US" sz="1400" dirty="0"/>
          </a:p>
        </p:txBody>
      </p:sp>
      <p:sp>
        <p:nvSpPr>
          <p:cNvPr id="20" name="Text 18"/>
          <p:cNvSpPr txBox="1"/>
          <p:nvPr/>
        </p:nvSpPr>
        <p:spPr>
          <a:xfrm>
            <a:off x="3063240" y="3136392"/>
            <a:ext cx="548640" cy="274320"/>
          </a:xfrm>
          <a:prstGeom prst="rect">
            <a:avLst/>
          </a:prstGeom>
          <a:noFill/>
          <a:ln/>
        </p:spPr>
        <p:txBody>
          <a:bodyPr wrap="square" lIns="0" tIns="0" rIns="0" bIns="0" rtlCol="0" anchor="t"/>
          <a:lstStyle/>
          <a:p>
            <a:pPr algn="r" indent="0" marL="0">
              <a:buNone/>
            </a:pPr>
            <a:r>
              <a:rPr lang="en-US" sz="1400" b="1" dirty="0">
                <a:solidFill>
                  <a:srgbClr val="0F7C80"/>
                </a:solidFill>
                <a:latin typeface="Calibri" pitchFamily="34" charset="0"/>
                <a:ea typeface="Calibri" pitchFamily="34" charset="-122"/>
                <a:cs typeface="Calibri" pitchFamily="34" charset="-120"/>
              </a:rPr>
              <a:t>0.855</a:t>
            </a:r>
            <a:endParaRPr lang="en-US" sz="1400" dirty="0"/>
          </a:p>
        </p:txBody>
      </p:sp>
      <p:sp>
        <p:nvSpPr>
          <p:cNvPr id="21" name="Text 19"/>
          <p:cNvSpPr txBox="1"/>
          <p:nvPr/>
        </p:nvSpPr>
        <p:spPr>
          <a:xfrm>
            <a:off x="3886200" y="3136392"/>
            <a:ext cx="822960" cy="274320"/>
          </a:xfrm>
          <a:prstGeom prst="rect">
            <a:avLst/>
          </a:prstGeom>
          <a:noFill/>
          <a:ln/>
        </p:spPr>
        <p:txBody>
          <a:bodyPr wrap="square" lIns="0" tIns="0" rIns="0" bIns="0" rtlCol="0" anchor="t"/>
          <a:lstStyle/>
          <a:p>
            <a:pPr algn="r" indent="0" marL="0">
              <a:buNone/>
            </a:pPr>
            <a:r>
              <a:rPr lang="en-US" sz="1400" b="1" dirty="0">
                <a:solidFill>
                  <a:srgbClr val="0F7C80"/>
                </a:solidFill>
                <a:latin typeface="Calibri" pitchFamily="34" charset="0"/>
                <a:ea typeface="Calibri" pitchFamily="34" charset="-122"/>
                <a:cs typeface="Calibri" pitchFamily="34" charset="-120"/>
              </a:rPr>
              <a:t>592 ms</a:t>
            </a:r>
            <a:endParaRPr lang="en-US" sz="1400" dirty="0"/>
          </a:p>
        </p:txBody>
      </p:sp>
      <p:sp>
        <p:nvSpPr>
          <p:cNvPr id="22" name="takeaway"/>
          <p:cNvSpPr/>
          <p:nvPr/>
        </p:nvSpPr>
        <p:spPr>
          <a:xfrm>
            <a:off x="457200" y="3657600"/>
            <a:ext cx="4251960" cy="914400"/>
          </a:xfrm>
          <a:prstGeom prst="roundRect">
            <a:avLst>
              <a:gd name="adj" fmla="val 8000"/>
            </a:avLst>
          </a:prstGeom>
          <a:solidFill>
            <a:srgbClr val="F1F3F4"/>
          </a:solidFill>
          <a:ln w="12700">
            <a:solidFill>
              <a:srgbClr val="F1F3F4"/>
            </a:solidFill>
            <a:prstDash val="solid"/>
          </a:ln>
        </p:spPr>
      </p:sp>
      <p:sp>
        <p:nvSpPr>
          <p:cNvPr id="23" name="Text 21"/>
          <p:cNvSpPr txBox="1"/>
          <p:nvPr/>
        </p:nvSpPr>
        <p:spPr>
          <a:xfrm>
            <a:off x="640080" y="3794760"/>
            <a:ext cx="3886200" cy="685800"/>
          </a:xfrm>
          <a:prstGeom prst="rect">
            <a:avLst/>
          </a:prstGeom>
          <a:noFill/>
          <a:ln/>
        </p:spPr>
        <p:txBody>
          <a:bodyPr wrap="square" lIns="0" tIns="0" rIns="0" bIns="0" rtlCol="0" anchor="t"/>
          <a:lstStyle/>
          <a:p>
            <a:pPr indent="0" marL="0">
              <a:buNone/>
            </a:pPr>
            <a:r>
              <a:rPr lang="en-US" sz="1300" b="1" dirty="0">
                <a:solidFill>
                  <a:srgbClr val="1F2A30"/>
                </a:solidFill>
                <a:latin typeface="Calibri" pitchFamily="34" charset="0"/>
                <a:ea typeface="Calibri" pitchFamily="34" charset="-122"/>
                <a:cs typeface="Calibri" pitchFamily="34" charset="-120"/>
              </a:rPr>
              <a:t>Takeaway: </a:t>
            </a:r>
            <a:pPr indent="0" marL="0">
              <a:buNone/>
            </a:pPr>
            <a:r>
              <a:rPr lang="en-US" sz="1300" dirty="0">
                <a:solidFill>
                  <a:srgbClr val="1F2A30"/>
                </a:solidFill>
                <a:latin typeface="Calibri" pitchFamily="34" charset="0"/>
                <a:ea typeface="Calibri" pitchFamily="34" charset="-122"/>
                <a:cs typeface="Calibri" pitchFamily="34" charset="-120"/>
              </a:rPr>
              <a:t>targeting the extra search (46% of questions) cuts latency by more than half versus always searching, and ranks better.</a:t>
            </a:r>
            <a:endParaRPr lang="en-US" sz="1300" dirty="0"/>
          </a:p>
        </p:txBody>
      </p:sp>
      <p:sp>
        <p:nvSpPr>
          <p:cNvPr id="24" name="Text 22"/>
          <p:cNvSpPr txBox="1"/>
          <p:nvPr/>
        </p:nvSpPr>
        <p:spPr>
          <a:xfrm>
            <a:off x="5120640" y="1481328"/>
            <a:ext cx="3566160" cy="228600"/>
          </a:xfrm>
          <a:prstGeom prst="rect">
            <a:avLst/>
          </a:prstGeom>
          <a:noFill/>
          <a:ln/>
        </p:spPr>
        <p:txBody>
          <a:bodyPr wrap="square" lIns="0" tIns="0" rIns="0" bIns="0" rtlCol="0" anchor="t"/>
          <a:lstStyle/>
          <a:p>
            <a:pPr indent="0" marL="0">
              <a:buNone/>
            </a:pPr>
            <a:r>
              <a:rPr lang="en-US" sz="1100" b="1" spc="100" kern="0" dirty="0">
                <a:solidFill>
                  <a:srgbClr val="0F7C80"/>
                </a:solidFill>
                <a:latin typeface="Calibri" pitchFamily="34" charset="0"/>
                <a:ea typeface="Calibri" pitchFamily="34" charset="-122"/>
                <a:cs typeface="Calibri" pitchFamily="34" charset="-120"/>
              </a:rPr>
              <a:t>END-TO-END PROTOTYPE</a:t>
            </a:r>
            <a:endParaRPr lang="en-US" sz="1100" dirty="0"/>
          </a:p>
        </p:txBody>
      </p:sp>
      <p:sp>
        <p:nvSpPr>
          <p:cNvPr id="25" name="Text 23"/>
          <p:cNvSpPr txBox="1"/>
          <p:nvPr/>
        </p:nvSpPr>
        <p:spPr>
          <a:xfrm>
            <a:off x="5120640" y="1783080"/>
            <a:ext cx="3611880" cy="914400"/>
          </a:xfrm>
          <a:prstGeom prst="rect">
            <a:avLst/>
          </a:prstGeom>
          <a:noFill/>
          <a:ln/>
        </p:spPr>
        <p:txBody>
          <a:bodyPr wrap="square" lIns="0" tIns="0" rIns="0" bIns="0" rtlCol="0" anchor="t"/>
          <a:lstStyle/>
          <a:p>
            <a:pPr indent="0" marL="0">
              <a:buNone/>
            </a:pPr>
            <a:r>
              <a:rPr lang="en-US" sz="1300" dirty="0">
                <a:solidFill>
                  <a:srgbClr val="1F2A30"/>
                </a:solidFill>
                <a:latin typeface="Calibri" pitchFamily="34" charset="0"/>
                <a:ea typeface="Calibri" pitchFamily="34" charset="-122"/>
                <a:cs typeface="Calibri" pitchFamily="34" charset="-120"/>
              </a:rPr>
              <a:t>A local Qwen3-4B writes cited answers or refuses. Each answer takes up to 6 s, and </a:t>
            </a:r>
            <a:pPr indent="0" marL="0">
              <a:buNone/>
            </a:pPr>
            <a:r>
              <a:rPr lang="en-US" sz="1300" b="1" dirty="0">
                <a:solidFill>
                  <a:srgbClr val="1F2A30"/>
                </a:solidFill>
                <a:latin typeface="Calibri" pitchFamily="34" charset="0"/>
                <a:ea typeface="Calibri" pitchFamily="34" charset="-122"/>
                <a:cs typeface="Calibri" pitchFamily="34" charset="-120"/>
              </a:rPr>
              <a:t>~96% of that is the LLM writing</a:t>
            </a:r>
            <a:pPr indent="0" marL="0">
              <a:buNone/>
            </a:pPr>
            <a:r>
              <a:rPr lang="en-US" sz="1300" dirty="0">
                <a:solidFill>
                  <a:srgbClr val="1F2A30"/>
                </a:solidFill>
                <a:latin typeface="Calibri" pitchFamily="34" charset="0"/>
                <a:ea typeface="Calibri" pitchFamily="34" charset="-122"/>
                <a:cs typeface="Calibri" pitchFamily="34" charset="-120"/>
              </a:rPr>
              <a:t>, so reusing verified answers saves the most.</a:t>
            </a:r>
            <a:endParaRPr lang="en-US" sz="1300" dirty="0"/>
          </a:p>
        </p:txBody>
      </p:sp>
      <p:sp>
        <p:nvSpPr>
          <p:cNvPr id="26" name="Text 24"/>
          <p:cNvSpPr txBox="1"/>
          <p:nvPr/>
        </p:nvSpPr>
        <p:spPr>
          <a:xfrm>
            <a:off x="5120640" y="2852928"/>
            <a:ext cx="3566160" cy="228600"/>
          </a:xfrm>
          <a:prstGeom prst="rect">
            <a:avLst/>
          </a:prstGeom>
          <a:noFill/>
          <a:ln/>
        </p:spPr>
        <p:txBody>
          <a:bodyPr wrap="square" lIns="0" tIns="0" rIns="0" bIns="0" rtlCol="0" anchor="t"/>
          <a:lstStyle/>
          <a:p>
            <a:pPr indent="0" marL="0">
              <a:buNone/>
            </a:pPr>
            <a:r>
              <a:rPr lang="en-US" sz="1100" b="1" spc="100" kern="0" dirty="0">
                <a:solidFill>
                  <a:srgbClr val="0F7C80"/>
                </a:solidFill>
                <a:latin typeface="Calibri" pitchFamily="34" charset="0"/>
                <a:ea typeface="Calibri" pitchFamily="34" charset="-122"/>
                <a:cs typeface="Calibri" pitchFamily="34" charset="-120"/>
              </a:rPr>
              <a:t>BEFORE THE FINAL REPORT</a:t>
            </a:r>
            <a:endParaRPr lang="en-US" sz="1100" dirty="0"/>
          </a:p>
        </p:txBody>
      </p:sp>
      <p:sp>
        <p:nvSpPr>
          <p:cNvPr id="27" name="Text 25"/>
          <p:cNvSpPr txBox="1"/>
          <p:nvPr/>
        </p:nvSpPr>
        <p:spPr>
          <a:xfrm>
            <a:off x="5120640" y="3154680"/>
            <a:ext cx="274320" cy="320040"/>
          </a:xfrm>
          <a:prstGeom prst="rect">
            <a:avLst/>
          </a:prstGeom>
          <a:noFill/>
          <a:ln/>
        </p:spPr>
        <p:txBody>
          <a:bodyPr wrap="square" lIns="0" tIns="0" rIns="0" bIns="0" rtlCol="0" anchor="t"/>
          <a:lstStyle/>
          <a:p>
            <a:pPr indent="0" marL="0">
              <a:buNone/>
            </a:pPr>
            <a:r>
              <a:rPr lang="en-US" sz="1400" b="1" dirty="0">
                <a:solidFill>
                  <a:srgbClr val="0F7C80"/>
                </a:solidFill>
                <a:latin typeface="Calibri" pitchFamily="34" charset="0"/>
                <a:ea typeface="Calibri" pitchFamily="34" charset="-122"/>
                <a:cs typeface="Calibri" pitchFamily="34" charset="-120"/>
              </a:rPr>
              <a:t>1</a:t>
            </a:r>
            <a:endParaRPr lang="en-US" sz="1400" dirty="0"/>
          </a:p>
        </p:txBody>
      </p:sp>
      <p:sp>
        <p:nvSpPr>
          <p:cNvPr id="28" name="Text 26"/>
          <p:cNvSpPr txBox="1"/>
          <p:nvPr/>
        </p:nvSpPr>
        <p:spPr>
          <a:xfrm>
            <a:off x="5413248" y="3154680"/>
            <a:ext cx="3337560" cy="320040"/>
          </a:xfrm>
          <a:prstGeom prst="rect">
            <a:avLst/>
          </a:prstGeom>
          <a:noFill/>
          <a:ln/>
        </p:spPr>
        <p:txBody>
          <a:bodyPr wrap="square" lIns="0" tIns="0" rIns="0" bIns="0" rtlCol="0" anchor="t"/>
          <a:lstStyle/>
          <a:p>
            <a:pPr indent="0" marL="0">
              <a:buNone/>
            </a:pPr>
            <a:r>
              <a:rPr lang="en-US" sz="1400" dirty="0">
                <a:solidFill>
                  <a:srgbClr val="1F2A30"/>
                </a:solidFill>
                <a:latin typeface="Calibri" pitchFamily="34" charset="0"/>
                <a:ea typeface="Calibri" pitchFamily="34" charset="-122"/>
                <a:cs typeface="Calibri" pitchFamily="34" charset="-120"/>
              </a:rPr>
              <a:t>Confirm on validation and test questions</a:t>
            </a:r>
            <a:endParaRPr lang="en-US" sz="1400" dirty="0"/>
          </a:p>
        </p:txBody>
      </p:sp>
      <p:sp>
        <p:nvSpPr>
          <p:cNvPr id="29" name="Text 27"/>
          <p:cNvSpPr txBox="1"/>
          <p:nvPr/>
        </p:nvSpPr>
        <p:spPr>
          <a:xfrm>
            <a:off x="5120640" y="3520440"/>
            <a:ext cx="274320" cy="320040"/>
          </a:xfrm>
          <a:prstGeom prst="rect">
            <a:avLst/>
          </a:prstGeom>
          <a:noFill/>
          <a:ln/>
        </p:spPr>
        <p:txBody>
          <a:bodyPr wrap="square" lIns="0" tIns="0" rIns="0" bIns="0" rtlCol="0" anchor="t"/>
          <a:lstStyle/>
          <a:p>
            <a:pPr indent="0" marL="0">
              <a:buNone/>
            </a:pPr>
            <a:r>
              <a:rPr lang="en-US" sz="1400" b="1" dirty="0">
                <a:solidFill>
                  <a:srgbClr val="0F7C80"/>
                </a:solidFill>
                <a:latin typeface="Calibri" pitchFamily="34" charset="0"/>
                <a:ea typeface="Calibri" pitchFamily="34" charset="-122"/>
                <a:cs typeface="Calibri" pitchFamily="34" charset="-120"/>
              </a:rPr>
              <a:t>2</a:t>
            </a:r>
            <a:endParaRPr lang="en-US" sz="1400" dirty="0"/>
          </a:p>
        </p:txBody>
      </p:sp>
      <p:sp>
        <p:nvSpPr>
          <p:cNvPr id="30" name="Text 28"/>
          <p:cNvSpPr txBox="1"/>
          <p:nvPr/>
        </p:nvSpPr>
        <p:spPr>
          <a:xfrm>
            <a:off x="5413248" y="3520440"/>
            <a:ext cx="3337560" cy="320040"/>
          </a:xfrm>
          <a:prstGeom prst="rect">
            <a:avLst/>
          </a:prstGeom>
          <a:noFill/>
          <a:ln/>
        </p:spPr>
        <p:txBody>
          <a:bodyPr wrap="square" lIns="0" tIns="0" rIns="0" bIns="0" rtlCol="0" anchor="t"/>
          <a:lstStyle/>
          <a:p>
            <a:pPr indent="0" marL="0">
              <a:buNone/>
            </a:pPr>
            <a:r>
              <a:rPr lang="en-US" sz="1400" dirty="0">
                <a:solidFill>
                  <a:srgbClr val="1F2A30"/>
                </a:solidFill>
                <a:latin typeface="Calibri" pitchFamily="34" charset="0"/>
                <a:ea typeface="Calibri" pitchFamily="34" charset="-122"/>
                <a:cs typeface="Calibri" pitchFamily="34" charset="-120"/>
              </a:rPr>
              <a:t>Score answers and refusals on all questions</a:t>
            </a:r>
            <a:endParaRPr lang="en-US" sz="1400" dirty="0"/>
          </a:p>
        </p:txBody>
      </p:sp>
      <p:sp>
        <p:nvSpPr>
          <p:cNvPr id="31" name="Text 29"/>
          <p:cNvSpPr txBox="1"/>
          <p:nvPr/>
        </p:nvSpPr>
        <p:spPr>
          <a:xfrm>
            <a:off x="5120640" y="3886200"/>
            <a:ext cx="274320" cy="320040"/>
          </a:xfrm>
          <a:prstGeom prst="rect">
            <a:avLst/>
          </a:prstGeom>
          <a:noFill/>
          <a:ln/>
        </p:spPr>
        <p:txBody>
          <a:bodyPr wrap="square" lIns="0" tIns="0" rIns="0" bIns="0" rtlCol="0" anchor="t"/>
          <a:lstStyle/>
          <a:p>
            <a:pPr indent="0" marL="0">
              <a:buNone/>
            </a:pPr>
            <a:r>
              <a:rPr lang="en-US" sz="1400" b="1" dirty="0">
                <a:solidFill>
                  <a:srgbClr val="0F7C80"/>
                </a:solidFill>
                <a:latin typeface="Calibri" pitchFamily="34" charset="0"/>
                <a:ea typeface="Calibri" pitchFamily="34" charset="-122"/>
                <a:cs typeface="Calibri" pitchFamily="34" charset="-120"/>
              </a:rPr>
              <a:t>3</a:t>
            </a:r>
            <a:endParaRPr lang="en-US" sz="1400" dirty="0"/>
          </a:p>
        </p:txBody>
      </p:sp>
      <p:sp>
        <p:nvSpPr>
          <p:cNvPr id="32" name="Text 30"/>
          <p:cNvSpPr txBox="1"/>
          <p:nvPr/>
        </p:nvSpPr>
        <p:spPr>
          <a:xfrm>
            <a:off x="5413248" y="3886200"/>
            <a:ext cx="3337560" cy="320040"/>
          </a:xfrm>
          <a:prstGeom prst="rect">
            <a:avLst/>
          </a:prstGeom>
          <a:noFill/>
          <a:ln/>
        </p:spPr>
        <p:txBody>
          <a:bodyPr wrap="square" lIns="0" tIns="0" rIns="0" bIns="0" rtlCol="0" anchor="t"/>
          <a:lstStyle/>
          <a:p>
            <a:pPr indent="0" marL="0">
              <a:buNone/>
            </a:pPr>
            <a:r>
              <a:rPr lang="en-US" sz="1400" dirty="0">
                <a:solidFill>
                  <a:srgbClr val="1F2A30"/>
                </a:solidFill>
                <a:latin typeface="Calibri" pitchFamily="34" charset="0"/>
                <a:ea typeface="Calibri" pitchFamily="34" charset="-122"/>
                <a:cs typeface="Calibri" pitchFamily="34" charset="-120"/>
              </a:rPr>
              <a:t>Verified cache for repeat questions</a:t>
            </a:r>
            <a:endParaRPr lang="en-US" sz="1400" dirty="0"/>
          </a:p>
        </p:txBody>
      </p:sp>
      <p:sp>
        <p:nvSpPr>
          <p:cNvPr id="33" name="Text 31"/>
          <p:cNvSpPr txBox="1"/>
          <p:nvPr/>
        </p:nvSpPr>
        <p:spPr>
          <a:xfrm>
            <a:off x="5120640" y="4251960"/>
            <a:ext cx="274320" cy="320040"/>
          </a:xfrm>
          <a:prstGeom prst="rect">
            <a:avLst/>
          </a:prstGeom>
          <a:noFill/>
          <a:ln/>
        </p:spPr>
        <p:txBody>
          <a:bodyPr wrap="square" lIns="0" tIns="0" rIns="0" bIns="0" rtlCol="0" anchor="t"/>
          <a:lstStyle/>
          <a:p>
            <a:pPr indent="0" marL="0">
              <a:buNone/>
            </a:pPr>
            <a:r>
              <a:rPr lang="en-US" sz="1400" b="1" dirty="0">
                <a:solidFill>
                  <a:srgbClr val="0F7C80"/>
                </a:solidFill>
                <a:latin typeface="Calibri" pitchFamily="34" charset="0"/>
                <a:ea typeface="Calibri" pitchFamily="34" charset="-122"/>
                <a:cs typeface="Calibri" pitchFamily="34" charset="-120"/>
              </a:rPr>
              <a:t>4</a:t>
            </a:r>
            <a:endParaRPr lang="en-US" sz="1400" dirty="0"/>
          </a:p>
        </p:txBody>
      </p:sp>
      <p:sp>
        <p:nvSpPr>
          <p:cNvPr id="34" name="Text 32"/>
          <p:cNvSpPr txBox="1"/>
          <p:nvPr/>
        </p:nvSpPr>
        <p:spPr>
          <a:xfrm>
            <a:off x="5413248" y="4251960"/>
            <a:ext cx="3337560" cy="320040"/>
          </a:xfrm>
          <a:prstGeom prst="rect">
            <a:avLst/>
          </a:prstGeom>
          <a:noFill/>
          <a:ln/>
        </p:spPr>
        <p:txBody>
          <a:bodyPr wrap="square" lIns="0" tIns="0" rIns="0" bIns="0" rtlCol="0" anchor="t"/>
          <a:lstStyle/>
          <a:p>
            <a:pPr indent="0" marL="0">
              <a:buNone/>
            </a:pPr>
            <a:r>
              <a:rPr lang="en-US" sz="1400" dirty="0">
                <a:solidFill>
                  <a:srgbClr val="1F2A30"/>
                </a:solidFill>
                <a:latin typeface="Calibri" pitchFamily="34" charset="0"/>
                <a:ea typeface="Calibri" pitchFamily="34" charset="-122"/>
                <a:cs typeface="Calibri" pitchFamily="34" charset="-120"/>
              </a:rPr>
              <a:t>Grow to ~300 questions, incl. multi-doc</a:t>
            </a:r>
            <a:endParaRPr lang="en-US" sz="1400" dirty="0"/>
          </a:p>
        </p:txBody>
      </p:sp>
      <p:sp>
        <p:nvSpPr>
          <p:cNvPr id="35" name="Text 33"/>
          <p:cNvSpPr txBox="1"/>
          <p:nvPr/>
        </p:nvSpPr>
        <p:spPr>
          <a:xfrm>
            <a:off x="457200" y="4681728"/>
            <a:ext cx="8229600" cy="274320"/>
          </a:xfrm>
          <a:prstGeom prst="rect">
            <a:avLst/>
          </a:prstGeom>
          <a:noFill/>
          <a:ln/>
        </p:spPr>
        <p:txBody>
          <a:bodyPr wrap="square" lIns="0" tIns="0" rIns="0" bIns="0" rtlCol="0" anchor="t"/>
          <a:lstStyle/>
          <a:p>
            <a:pPr indent="0" marL="0">
              <a:buNone/>
            </a:pPr>
            <a:r>
              <a:rPr lang="en-US" sz="1000" dirty="0">
                <a:solidFill>
                  <a:srgbClr val="5B6770"/>
                </a:solidFill>
                <a:latin typeface="Calibri" pitchFamily="34" charset="0"/>
                <a:ea typeface="Calibri" pitchFamily="34" charset="-122"/>
                <a:cs typeface="Calibri" pitchFamily="34" charset="-120"/>
              </a:rPr>
              <a:t>Retrieval: 62 dev questions, Qwen3-Embedding-0.6B, nDCG@5 (1 = perfect). Answering: 3 rehearsal questions. Not yet validated on held-out data.</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Team 13 Midterm: Cost-aware adaptive retrieval</dc:title>
  <dc:subject>PptxGenJS Presentation</dc:subject>
  <dc:creator>Team 13</dc:creator>
  <cp:lastModifiedBy>Team 13</cp:lastModifiedBy>
  <cp:revision>1</cp:revision>
  <dcterms:created xsi:type="dcterms:W3CDTF">2026-10-22T06:42:01Z</dcterms:created>
  <dcterms:modified xsi:type="dcterms:W3CDTF">2026-10-22T06:42:01Z</dcterms:modified>
</cp:coreProperties>
</file>