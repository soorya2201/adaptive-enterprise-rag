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Lst>
  <p:notesMasterIdLst>
    <p:notesMasterId r:id="rId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notesMaster" Target="notesMasters/notesMaster1.xml"/><Relationship Id="rId5" Type="http://schemas.openxmlformats.org/officeDocument/2006/relationships/presProps" Target="presProps.xml"/><Relationship Id="rId6" Type="http://schemas.openxmlformats.org/officeDocument/2006/relationships/viewProps" Target="viewProps.xml"/><Relationship Id="rId7" Type="http://schemas.openxmlformats.org/officeDocument/2006/relationships/theme" Target="theme/theme1.xml"/><Relationship Id="rId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target: 55 seconds.
Support teams want fast, correct answers from company documents, but running the full retrieval pipeline on every question is slow and costly, and answering from weak evidence is risky.
Our idea is to match retrieval effort to the question. First, check a cache of verified answers: a repeat question reuses its answer. Otherwise, retrieve evidence with hybrid search, combining vector and keyword search. Then check that evidence: if the two searches disagree, search once more, at most once. Finally, answer with citations, or refuse if the evidence is still insufficient.
Today steps 2 and 3 are built and measured on retrieval. The cache and the answering step are planned.
Prior work such as Adaptive-RAG routes by question complexity, and Self-RAG learns when to retrieve and critiques itself. Both decide when to retrieve. We decide how much effort an enterprise question deserves, including reusing an answer or refusing, and we measure the quality-versus-cost tradeoff. Cost savings are still a hypothesis.
Sources:
Jeong et al., Adaptive-RAG, NAACL 2024: https://aclanthology.org/2024.naacl-long.389/
Asai et al., Self-RAG, ICLR 2024: https://arxiv.org/abs/2310.11511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target: 65 seconds, then about one minute of questions.
We tested this idea on our development set of 62 answerable questions. Ranking quality here is nDCG at 5, where 1 means the correct document is ranked first.
Plain vector search scores 0.807. Adding keyword search to make it hybrid raises that to 0.846, at the same 30 milliseconds. Next we tried an extra search step, where a small local LLM rewrites the query using the first results. Doing that on every question is slow, about 1.3 seconds, and it actually ranks slightly worse, 0.825.
So we made it adaptive: we run the extra search only when keyword search and vector search disagree on the top document. That happens on 46 percent of questions. The result is the best ranking, 0.855, at 592 milliseconds, less than half the latency of always searching. That is our main takeaway: spending effort only where the question needs it can be both cheaper and better.
These are development results with a stronger embedding model, Qwen3, so next we confirm them on validation and test questions. Then we add grounded answers with citations and refusal, a verified cache for repeat questions, and end-to-end measures of answer quality, latency and cost, and we grow to about 300 questions, including multi-document ones.
Source: Ty's optimization experiments, branch feat-retrieval-optimizations, experiments/optimizations (figure 4, combinations-dev-20261020-01: 8 passes, 3,312 requests).
Q&amp;A:
What is nDCG@5? A score for the top-5 ranking: 1 if the correct document is first, lower the further down it appears, 0 if it is missing.
Recall@5? Hybrid 0.919; extra search always 0.935; only when needed 0.935. The gain is mostly in ranking order, not in finding new documents.
Why not a reranker? We tried the ms-marco MiniLM cross-encoder. It lowered nDCG@5 from 0.807 to 0.781, likely because it was trained on web search, not enterprise documents.
What is the extra search? LameR: an LLM (Llama 3.2 3B, run locally) drafts likely answers from the top keyword results, and we search again with them.
Is the gain significant? Paired bootstrap intervals were computed; the run is small (62 questions) and on the development split only, so we present it as an observation.
Why is this different from the earlier MiniLM numbers? These runs use Qwen3-Embedding-0.6B and a separate experiment harness, so the numbers are not directly comparable.
Is this cost or only latency? Latency only, on an M4 Max laptop with warm models. Hardware and energy cost are not measured; there are no paid API calls.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228600"/>
          </a:xfrm>
          <a:prstGeom prst="rect">
            <a:avLst/>
          </a:prstGeom>
          <a:noFill/>
          <a:ln/>
        </p:spPr>
        <p:txBody>
          <a:bodyPr wrap="square" lIns="0" tIns="0" rIns="0" bIns="0" rtlCol="0" anchor="t"/>
          <a:lstStyle/>
          <a:p>
            <a:pPr indent="0" marL="0">
              <a:buNone/>
            </a:pPr>
            <a:r>
              <a:rPr lang="en-US" sz="1100" b="1" spc="100" kern="0" dirty="0">
                <a:solidFill>
                  <a:srgbClr val="0F7C80"/>
                </a:solidFill>
                <a:latin typeface="Calibri" pitchFamily="34" charset="0"/>
                <a:ea typeface="Calibri" pitchFamily="34" charset="-122"/>
                <a:cs typeface="Calibri" pitchFamily="34" charset="-120"/>
              </a:rPr>
              <a:t>TEAM 13  ·  CSCI 544 MIDTERM</a:t>
            </a:r>
            <a:endParaRPr lang="en-US" sz="1100" dirty="0"/>
          </a:p>
        </p:txBody>
      </p:sp>
      <p:sp>
        <p:nvSpPr>
          <p:cNvPr id="3" name="Text 1"/>
          <p:cNvSpPr txBox="1"/>
          <p:nvPr/>
        </p:nvSpPr>
        <p:spPr>
          <a:xfrm>
            <a:off x="457200" y="530352"/>
            <a:ext cx="8229600" cy="502920"/>
          </a:xfrm>
          <a:prstGeom prst="rect">
            <a:avLst/>
          </a:prstGeom>
          <a:noFill/>
          <a:ln/>
        </p:spPr>
        <p:txBody>
          <a:bodyPr wrap="square" lIns="0" tIns="0" rIns="0" bIns="0" rtlCol="0" anchor="t"/>
          <a:lstStyle/>
          <a:p>
            <a:pPr indent="0" marL="0">
              <a:buNone/>
            </a:pPr>
            <a:r>
              <a:rPr lang="en-US" sz="2800" b="1" dirty="0">
                <a:solidFill>
                  <a:srgbClr val="1F2A30"/>
                </a:solidFill>
                <a:latin typeface="Calibri" pitchFamily="34" charset="0"/>
                <a:ea typeface="Calibri" pitchFamily="34" charset="-122"/>
                <a:cs typeface="Calibri" pitchFamily="34" charset="-120"/>
              </a:rPr>
              <a:t>Match retrieval effort to the question</a:t>
            </a:r>
            <a:endParaRPr lang="en-US" sz="2800" dirty="0"/>
          </a:p>
        </p:txBody>
      </p:sp>
      <p:sp>
        <p:nvSpPr>
          <p:cNvPr id="4" name="Text 2"/>
          <p:cNvSpPr txBox="1"/>
          <p:nvPr/>
        </p:nvSpPr>
        <p:spPr>
          <a:xfrm>
            <a:off x="457200" y="1033272"/>
            <a:ext cx="8229600" cy="274320"/>
          </a:xfrm>
          <a:prstGeom prst="rect">
            <a:avLst/>
          </a:prstGeom>
          <a:noFill/>
          <a:ln/>
        </p:spPr>
        <p:txBody>
          <a:bodyPr wrap="square" lIns="0" tIns="0" rIns="0" bIns="0" rtlCol="0" anchor="t"/>
          <a:lstStyle/>
          <a:p>
            <a:pPr indent="0" marL="0">
              <a:buNone/>
            </a:pPr>
            <a:r>
              <a:rPr lang="en-US" sz="1400" dirty="0">
                <a:solidFill>
                  <a:srgbClr val="5B6770"/>
                </a:solidFill>
                <a:latin typeface="Calibri" pitchFamily="34" charset="0"/>
                <a:ea typeface="Calibri" pitchFamily="34" charset="-122"/>
                <a:cs typeface="Calibri" pitchFamily="34" charset="-120"/>
              </a:rPr>
              <a:t>Enterprise support assistant: a cited answer from company documents, or a refusal when evidence is weak</a:t>
            </a:r>
            <a:endParaRPr lang="en-US" sz="1400" dirty="0"/>
          </a:p>
        </p:txBody>
      </p:sp>
      <p:sp>
        <p:nvSpPr>
          <p:cNvPr id="5" name="step-1"/>
          <p:cNvSpPr/>
          <p:nvPr/>
        </p:nvSpPr>
        <p:spPr>
          <a:xfrm>
            <a:off x="457200" y="1600200"/>
            <a:ext cx="1828800" cy="960120"/>
          </a:xfrm>
          <a:prstGeom prst="roundRect">
            <a:avLst>
              <a:gd name="adj" fmla="val 7619"/>
            </a:avLst>
          </a:prstGeom>
          <a:solidFill>
            <a:srgbClr val="FFFFFF"/>
          </a:solidFill>
          <a:ln w="15875">
            <a:solidFill>
              <a:srgbClr val="B8C2C8"/>
            </a:solidFill>
            <a:prstDash val="dash"/>
          </a:ln>
        </p:spPr>
      </p:sp>
      <p:sp>
        <p:nvSpPr>
          <p:cNvPr id="6" name="Text 4"/>
          <p:cNvSpPr txBox="1"/>
          <p:nvPr/>
        </p:nvSpPr>
        <p:spPr>
          <a:xfrm>
            <a:off x="594360" y="1709928"/>
            <a:ext cx="274320" cy="274320"/>
          </a:xfrm>
          <a:prstGeom prst="rect">
            <a:avLst/>
          </a:prstGeom>
          <a:noFill/>
          <a:ln/>
        </p:spPr>
        <p:txBody>
          <a:bodyPr wrap="square" lIns="0" tIns="0" rIns="0" bIns="0" rtlCol="0" anchor="t"/>
          <a:lstStyle/>
          <a:p>
            <a:pPr indent="0" marL="0">
              <a:buNone/>
            </a:pPr>
            <a:r>
              <a:rPr lang="en-US" sz="1400" b="1" dirty="0">
                <a:solidFill>
                  <a:srgbClr val="0F7C80"/>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594360" y="1947672"/>
            <a:ext cx="1554480" cy="274320"/>
          </a:xfrm>
          <a:prstGeom prst="rect">
            <a:avLst/>
          </a:prstGeom>
          <a:noFill/>
          <a:ln/>
        </p:spPr>
        <p:txBody>
          <a:bodyPr wrap="square" lIns="0" tIns="0" rIns="0" bIns="0" rtlCol="0" anchor="t"/>
          <a:lstStyle/>
          <a:p>
            <a:pPr indent="0" marL="0">
              <a:buNone/>
            </a:pPr>
            <a:r>
              <a:rPr lang="en-US" sz="1400" b="1" dirty="0">
                <a:solidFill>
                  <a:srgbClr val="1F2A30"/>
                </a:solidFill>
                <a:latin typeface="Calibri" pitchFamily="34" charset="0"/>
                <a:ea typeface="Calibri" pitchFamily="34" charset="-122"/>
                <a:cs typeface="Calibri" pitchFamily="34" charset="-120"/>
              </a:rPr>
              <a:t>Check verified cache</a:t>
            </a:r>
            <a:endParaRPr lang="en-US" sz="1400" dirty="0"/>
          </a:p>
        </p:txBody>
      </p:sp>
      <p:sp>
        <p:nvSpPr>
          <p:cNvPr id="8" name="Text 6"/>
          <p:cNvSpPr txBox="1"/>
          <p:nvPr/>
        </p:nvSpPr>
        <p:spPr>
          <a:xfrm>
            <a:off x="594360" y="2221992"/>
            <a:ext cx="1554480" cy="274320"/>
          </a:xfrm>
          <a:prstGeom prst="rect">
            <a:avLst/>
          </a:prstGeom>
          <a:noFill/>
          <a:ln/>
        </p:spPr>
        <p:txBody>
          <a:bodyPr wrap="square" lIns="0" tIns="0" rIns="0" bIns="0" rtlCol="0" anchor="t"/>
          <a:lstStyle/>
          <a:p>
            <a:pPr indent="0" marL="0">
              <a:buNone/>
            </a:pPr>
            <a:r>
              <a:rPr lang="en-US" sz="1100" dirty="0">
                <a:solidFill>
                  <a:srgbClr val="5B6770"/>
                </a:solidFill>
                <a:latin typeface="Calibri" pitchFamily="34" charset="0"/>
                <a:ea typeface="Calibri" pitchFamily="34" charset="-122"/>
                <a:cs typeface="Calibri" pitchFamily="34" charset="-120"/>
              </a:rPr>
              <a:t>Repeat? Reuse the answer</a:t>
            </a:r>
            <a:endParaRPr lang="en-US" sz="1100" dirty="0"/>
          </a:p>
        </p:txBody>
      </p:sp>
      <p:sp>
        <p:nvSpPr>
          <p:cNvPr id="9" name="Shape 7"/>
          <p:cNvSpPr/>
          <p:nvPr/>
        </p:nvSpPr>
        <p:spPr>
          <a:xfrm>
            <a:off x="2331720" y="2080260"/>
            <a:ext cx="210312" cy="0"/>
          </a:xfrm>
          <a:prstGeom prst="line">
            <a:avLst/>
          </a:prstGeom>
          <a:noFill/>
          <a:ln w="19050">
            <a:solidFill>
              <a:srgbClr val="5B6770"/>
            </a:solidFill>
            <a:prstDash val="solid"/>
            <a:tailEnd type="triangle"/>
          </a:ln>
        </p:spPr>
      </p:sp>
      <p:sp>
        <p:nvSpPr>
          <p:cNvPr id="10" name="step-2"/>
          <p:cNvSpPr/>
          <p:nvPr/>
        </p:nvSpPr>
        <p:spPr>
          <a:xfrm>
            <a:off x="2587752" y="1600200"/>
            <a:ext cx="1828800" cy="960120"/>
          </a:xfrm>
          <a:prstGeom prst="roundRect">
            <a:avLst>
              <a:gd name="adj" fmla="val 7619"/>
            </a:avLst>
          </a:prstGeom>
          <a:solidFill>
            <a:srgbClr val="0F7C80"/>
          </a:solidFill>
          <a:ln w="15875">
            <a:solidFill>
              <a:srgbClr val="0F7C80"/>
            </a:solidFill>
            <a:prstDash val="solid"/>
          </a:ln>
        </p:spPr>
      </p:sp>
      <p:sp>
        <p:nvSpPr>
          <p:cNvPr id="11" name="Text 9"/>
          <p:cNvSpPr txBox="1"/>
          <p:nvPr/>
        </p:nvSpPr>
        <p:spPr>
          <a:xfrm>
            <a:off x="2724912" y="1709928"/>
            <a:ext cx="274320" cy="274320"/>
          </a:xfrm>
          <a:prstGeom prst="rect">
            <a:avLst/>
          </a:prstGeom>
          <a:noFill/>
          <a:ln/>
        </p:spPr>
        <p:txBody>
          <a:bodyPr wrap="square" lIns="0" tIns="0" rIns="0" bIns="0" rtlCol="0" anchor="t"/>
          <a:lstStyle/>
          <a:p>
            <a:pP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2" name="Text 10"/>
          <p:cNvSpPr txBox="1"/>
          <p:nvPr/>
        </p:nvSpPr>
        <p:spPr>
          <a:xfrm>
            <a:off x="2724912" y="1947672"/>
            <a:ext cx="1554480" cy="274320"/>
          </a:xfrm>
          <a:prstGeom prst="rect">
            <a:avLst/>
          </a:prstGeom>
          <a:noFill/>
          <a:ln/>
        </p:spPr>
        <p:txBody>
          <a:bodyPr wrap="square" lIns="0" tIns="0" rIns="0" bIns="0" rtlCol="0" anchor="t"/>
          <a:lstStyle/>
          <a:p>
            <a:pPr indent="0" marL="0">
              <a:buNone/>
            </a:pPr>
            <a:r>
              <a:rPr lang="en-US" sz="1400" b="1" dirty="0">
                <a:solidFill>
                  <a:srgbClr val="FFFFFF"/>
                </a:solidFill>
                <a:latin typeface="Calibri" pitchFamily="34" charset="0"/>
                <a:ea typeface="Calibri" pitchFamily="34" charset="-122"/>
                <a:cs typeface="Calibri" pitchFamily="34" charset="-120"/>
              </a:rPr>
              <a:t>Hybrid retrieval</a:t>
            </a:r>
            <a:endParaRPr lang="en-US" sz="1400" dirty="0"/>
          </a:p>
        </p:txBody>
      </p:sp>
      <p:sp>
        <p:nvSpPr>
          <p:cNvPr id="13" name="Text 11"/>
          <p:cNvSpPr txBox="1"/>
          <p:nvPr/>
        </p:nvSpPr>
        <p:spPr>
          <a:xfrm>
            <a:off x="2724912" y="2221992"/>
            <a:ext cx="1554480" cy="274320"/>
          </a:xfrm>
          <a:prstGeom prst="rect">
            <a:avLst/>
          </a:prstGeom>
          <a:noFill/>
          <a:ln/>
        </p:spPr>
        <p:txBody>
          <a:bodyPr wrap="square" lIns="0" tIns="0" rIns="0" bIns="0" rtlCol="0" anchor="t"/>
          <a:lstStyle/>
          <a:p>
            <a:pPr indent="0" marL="0">
              <a:buNone/>
            </a:pPr>
            <a:r>
              <a:rPr lang="en-US" sz="1100" dirty="0">
                <a:solidFill>
                  <a:srgbClr val="FFFFFF"/>
                </a:solidFill>
                <a:latin typeface="Calibri" pitchFamily="34" charset="0"/>
                <a:ea typeface="Calibri" pitchFamily="34" charset="-122"/>
                <a:cs typeface="Calibri" pitchFamily="34" charset="-120"/>
              </a:rPr>
              <a:t>Vector + keyword search</a:t>
            </a:r>
            <a:endParaRPr lang="en-US" sz="1100" dirty="0"/>
          </a:p>
        </p:txBody>
      </p:sp>
      <p:sp>
        <p:nvSpPr>
          <p:cNvPr id="14" name="Shape 12"/>
          <p:cNvSpPr/>
          <p:nvPr/>
        </p:nvSpPr>
        <p:spPr>
          <a:xfrm>
            <a:off x="4462272" y="2080260"/>
            <a:ext cx="210312" cy="0"/>
          </a:xfrm>
          <a:prstGeom prst="line">
            <a:avLst/>
          </a:prstGeom>
          <a:noFill/>
          <a:ln w="19050">
            <a:solidFill>
              <a:srgbClr val="5B6770"/>
            </a:solidFill>
            <a:prstDash val="solid"/>
            <a:tailEnd type="triangle"/>
          </a:ln>
        </p:spPr>
      </p:sp>
      <p:sp>
        <p:nvSpPr>
          <p:cNvPr id="15" name="step-3"/>
          <p:cNvSpPr/>
          <p:nvPr/>
        </p:nvSpPr>
        <p:spPr>
          <a:xfrm>
            <a:off x="4718304" y="1600200"/>
            <a:ext cx="1828800" cy="960120"/>
          </a:xfrm>
          <a:prstGeom prst="roundRect">
            <a:avLst>
              <a:gd name="adj" fmla="val 7619"/>
            </a:avLst>
          </a:prstGeom>
          <a:solidFill>
            <a:srgbClr val="0F7C80"/>
          </a:solidFill>
          <a:ln w="15875">
            <a:solidFill>
              <a:srgbClr val="0F7C80"/>
            </a:solidFill>
            <a:prstDash val="solid"/>
          </a:ln>
        </p:spPr>
      </p:sp>
      <p:sp>
        <p:nvSpPr>
          <p:cNvPr id="16" name="Text 14"/>
          <p:cNvSpPr txBox="1"/>
          <p:nvPr/>
        </p:nvSpPr>
        <p:spPr>
          <a:xfrm>
            <a:off x="4855464" y="1709928"/>
            <a:ext cx="274320" cy="274320"/>
          </a:xfrm>
          <a:prstGeom prst="rect">
            <a:avLst/>
          </a:prstGeom>
          <a:noFill/>
          <a:ln/>
        </p:spPr>
        <p:txBody>
          <a:bodyPr wrap="square" lIns="0" tIns="0" rIns="0" bIns="0" rtlCol="0" anchor="t"/>
          <a:lstStyle/>
          <a:p>
            <a:pP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7" name="Text 15"/>
          <p:cNvSpPr txBox="1"/>
          <p:nvPr/>
        </p:nvSpPr>
        <p:spPr>
          <a:xfrm>
            <a:off x="4855464" y="1947672"/>
            <a:ext cx="1554480" cy="274320"/>
          </a:xfrm>
          <a:prstGeom prst="rect">
            <a:avLst/>
          </a:prstGeom>
          <a:noFill/>
          <a:ln/>
        </p:spPr>
        <p:txBody>
          <a:bodyPr wrap="square" lIns="0" tIns="0" rIns="0" bIns="0" rtlCol="0" anchor="t"/>
          <a:lstStyle/>
          <a:p>
            <a:pPr indent="0" marL="0">
              <a:buNone/>
            </a:pPr>
            <a:r>
              <a:rPr lang="en-US" sz="1400" b="1" dirty="0">
                <a:solidFill>
                  <a:srgbClr val="FFFFFF"/>
                </a:solidFill>
                <a:latin typeface="Calibri" pitchFamily="34" charset="0"/>
                <a:ea typeface="Calibri" pitchFamily="34" charset="-122"/>
                <a:cs typeface="Calibri" pitchFamily="34" charset="-120"/>
              </a:rPr>
              <a:t>Check the evidence</a:t>
            </a:r>
            <a:endParaRPr lang="en-US" sz="1400" dirty="0"/>
          </a:p>
        </p:txBody>
      </p:sp>
      <p:sp>
        <p:nvSpPr>
          <p:cNvPr id="18" name="Text 16"/>
          <p:cNvSpPr txBox="1"/>
          <p:nvPr/>
        </p:nvSpPr>
        <p:spPr>
          <a:xfrm>
            <a:off x="4855464" y="2221992"/>
            <a:ext cx="1554480" cy="274320"/>
          </a:xfrm>
          <a:prstGeom prst="rect">
            <a:avLst/>
          </a:prstGeom>
          <a:noFill/>
          <a:ln/>
        </p:spPr>
        <p:txBody>
          <a:bodyPr wrap="square" lIns="0" tIns="0" rIns="0" bIns="0" rtlCol="0" anchor="t"/>
          <a:lstStyle/>
          <a:p>
            <a:pPr indent="0" marL="0">
              <a:buNone/>
            </a:pPr>
            <a:r>
              <a:rPr lang="en-US" sz="1100" dirty="0">
                <a:solidFill>
                  <a:srgbClr val="FFFFFF"/>
                </a:solidFill>
                <a:latin typeface="Calibri" pitchFamily="34" charset="0"/>
                <a:ea typeface="Calibri" pitchFamily="34" charset="-122"/>
                <a:cs typeface="Calibri" pitchFamily="34" charset="-120"/>
              </a:rPr>
              <a:t>Disagree? Search again</a:t>
            </a:r>
            <a:endParaRPr lang="en-US" sz="1100" dirty="0"/>
          </a:p>
        </p:txBody>
      </p:sp>
      <p:sp>
        <p:nvSpPr>
          <p:cNvPr id="19" name="Shape 17"/>
          <p:cNvSpPr/>
          <p:nvPr/>
        </p:nvSpPr>
        <p:spPr>
          <a:xfrm>
            <a:off x="6592824" y="2080260"/>
            <a:ext cx="210312" cy="0"/>
          </a:xfrm>
          <a:prstGeom prst="line">
            <a:avLst/>
          </a:prstGeom>
          <a:noFill/>
          <a:ln w="19050">
            <a:solidFill>
              <a:srgbClr val="5B6770"/>
            </a:solidFill>
            <a:prstDash val="solid"/>
            <a:tailEnd type="triangle"/>
          </a:ln>
        </p:spPr>
      </p:sp>
      <p:sp>
        <p:nvSpPr>
          <p:cNvPr id="20" name="step-4"/>
          <p:cNvSpPr/>
          <p:nvPr/>
        </p:nvSpPr>
        <p:spPr>
          <a:xfrm>
            <a:off x="6848856" y="1600200"/>
            <a:ext cx="1828800" cy="960120"/>
          </a:xfrm>
          <a:prstGeom prst="roundRect">
            <a:avLst>
              <a:gd name="adj" fmla="val 7619"/>
            </a:avLst>
          </a:prstGeom>
          <a:solidFill>
            <a:srgbClr val="FFFFFF"/>
          </a:solidFill>
          <a:ln w="15875">
            <a:solidFill>
              <a:srgbClr val="B8C2C8"/>
            </a:solidFill>
            <a:prstDash val="dash"/>
          </a:ln>
        </p:spPr>
      </p:sp>
      <p:sp>
        <p:nvSpPr>
          <p:cNvPr id="21" name="Text 19"/>
          <p:cNvSpPr txBox="1"/>
          <p:nvPr/>
        </p:nvSpPr>
        <p:spPr>
          <a:xfrm>
            <a:off x="6986016" y="1709928"/>
            <a:ext cx="274320" cy="274320"/>
          </a:xfrm>
          <a:prstGeom prst="rect">
            <a:avLst/>
          </a:prstGeom>
          <a:noFill/>
          <a:ln/>
        </p:spPr>
        <p:txBody>
          <a:bodyPr wrap="square" lIns="0" tIns="0" rIns="0" bIns="0" rtlCol="0" anchor="t"/>
          <a:lstStyle/>
          <a:p>
            <a:pPr indent="0" marL="0">
              <a:buNone/>
            </a:pPr>
            <a:r>
              <a:rPr lang="en-US" sz="1400" b="1" dirty="0">
                <a:solidFill>
                  <a:srgbClr val="0F7C80"/>
                </a:solidFill>
                <a:latin typeface="Calibri" pitchFamily="34" charset="0"/>
                <a:ea typeface="Calibri" pitchFamily="34" charset="-122"/>
                <a:cs typeface="Calibri" pitchFamily="34" charset="-120"/>
              </a:rPr>
              <a:t>4</a:t>
            </a:r>
            <a:endParaRPr lang="en-US" sz="1400" dirty="0"/>
          </a:p>
        </p:txBody>
      </p:sp>
      <p:sp>
        <p:nvSpPr>
          <p:cNvPr id="22" name="Text 20"/>
          <p:cNvSpPr txBox="1"/>
          <p:nvPr/>
        </p:nvSpPr>
        <p:spPr>
          <a:xfrm>
            <a:off x="6986016" y="1947672"/>
            <a:ext cx="1554480" cy="274320"/>
          </a:xfrm>
          <a:prstGeom prst="rect">
            <a:avLst/>
          </a:prstGeom>
          <a:noFill/>
          <a:ln/>
        </p:spPr>
        <p:txBody>
          <a:bodyPr wrap="square" lIns="0" tIns="0" rIns="0" bIns="0" rtlCol="0" anchor="t"/>
          <a:lstStyle/>
          <a:p>
            <a:pPr indent="0" marL="0">
              <a:buNone/>
            </a:pPr>
            <a:r>
              <a:rPr lang="en-US" sz="1400" b="1" dirty="0">
                <a:solidFill>
                  <a:srgbClr val="1F2A30"/>
                </a:solidFill>
                <a:latin typeface="Calibri" pitchFamily="34" charset="0"/>
                <a:ea typeface="Calibri" pitchFamily="34" charset="-122"/>
                <a:cs typeface="Calibri" pitchFamily="34" charset="-120"/>
              </a:rPr>
              <a:t>Answer or refuse</a:t>
            </a:r>
            <a:endParaRPr lang="en-US" sz="1400" dirty="0"/>
          </a:p>
        </p:txBody>
      </p:sp>
      <p:sp>
        <p:nvSpPr>
          <p:cNvPr id="23" name="Text 21"/>
          <p:cNvSpPr txBox="1"/>
          <p:nvPr/>
        </p:nvSpPr>
        <p:spPr>
          <a:xfrm>
            <a:off x="6986016" y="2221992"/>
            <a:ext cx="1554480" cy="274320"/>
          </a:xfrm>
          <a:prstGeom prst="rect">
            <a:avLst/>
          </a:prstGeom>
          <a:noFill/>
          <a:ln/>
        </p:spPr>
        <p:txBody>
          <a:bodyPr wrap="square" lIns="0" tIns="0" rIns="0" bIns="0" rtlCol="0" anchor="t"/>
          <a:lstStyle/>
          <a:p>
            <a:pPr indent="0" marL="0">
              <a:buNone/>
            </a:pPr>
            <a:r>
              <a:rPr lang="en-US" sz="1100" dirty="0">
                <a:solidFill>
                  <a:srgbClr val="5B6770"/>
                </a:solidFill>
                <a:latin typeface="Calibri" pitchFamily="34" charset="0"/>
                <a:ea typeface="Calibri" pitchFamily="34" charset="-122"/>
                <a:cs typeface="Calibri" pitchFamily="34" charset="-120"/>
              </a:rPr>
              <a:t>Cite sources, or decline</a:t>
            </a:r>
            <a:endParaRPr lang="en-US" sz="1100" dirty="0"/>
          </a:p>
        </p:txBody>
      </p:sp>
      <p:sp>
        <p:nvSpPr>
          <p:cNvPr id="24" name="Text 22"/>
          <p:cNvSpPr txBox="1"/>
          <p:nvPr/>
        </p:nvSpPr>
        <p:spPr>
          <a:xfrm>
            <a:off x="457200" y="2670048"/>
            <a:ext cx="3657600" cy="228600"/>
          </a:xfrm>
          <a:prstGeom prst="rect">
            <a:avLst/>
          </a:prstGeom>
          <a:noFill/>
          <a:ln/>
        </p:spPr>
        <p:txBody>
          <a:bodyPr wrap="square" lIns="0" tIns="0" rIns="0" bIns="0" rtlCol="0" anchor="t"/>
          <a:lstStyle/>
          <a:p>
            <a:pPr indent="0" marL="0">
              <a:buNone/>
            </a:pPr>
            <a:r>
              <a:rPr lang="en-US" sz="1100" dirty="0">
                <a:solidFill>
                  <a:srgbClr val="0F7C80"/>
                </a:solidFill>
                <a:latin typeface="Calibri" pitchFamily="34" charset="0"/>
                <a:ea typeface="Calibri" pitchFamily="34" charset="-122"/>
                <a:cs typeface="Calibri" pitchFamily="34" charset="-120"/>
              </a:rPr>
              <a:t>■ </a:t>
            </a:r>
            <a:pPr indent="0" marL="0">
              <a:buNone/>
            </a:pPr>
            <a:r>
              <a:rPr lang="en-US" sz="1100" dirty="0">
                <a:solidFill>
                  <a:srgbClr val="5B6770"/>
                </a:solidFill>
                <a:latin typeface="Calibri" pitchFamily="34" charset="0"/>
                <a:ea typeface="Calibri" pitchFamily="34" charset="-122"/>
                <a:cs typeface="Calibri" pitchFamily="34" charset="-120"/>
              </a:rPr>
              <a:t>built      </a:t>
            </a:r>
            <a:pPr indent="0" marL="0">
              <a:buNone/>
            </a:pPr>
            <a:r>
              <a:rPr lang="en-US" sz="1100" dirty="0">
                <a:solidFill>
                  <a:srgbClr val="5B6770"/>
                </a:solidFill>
                <a:latin typeface="Calibri" pitchFamily="34" charset="0"/>
                <a:ea typeface="Calibri" pitchFamily="34" charset="-122"/>
                <a:cs typeface="Calibri" pitchFamily="34" charset="-120"/>
              </a:rPr>
              <a:t>□ </a:t>
            </a:r>
            <a:pPr indent="0" marL="0">
              <a:buNone/>
            </a:pPr>
            <a:r>
              <a:rPr lang="en-US" sz="1100" dirty="0">
                <a:solidFill>
                  <a:srgbClr val="5B6770"/>
                </a:solidFill>
                <a:latin typeface="Calibri" pitchFamily="34" charset="0"/>
                <a:ea typeface="Calibri" pitchFamily="34" charset="-122"/>
                <a:cs typeface="Calibri" pitchFamily="34" charset="-120"/>
              </a:rPr>
              <a:t>planned</a:t>
            </a:r>
            <a:endParaRPr lang="en-US" sz="1100" dirty="0"/>
          </a:p>
        </p:txBody>
      </p:sp>
      <p:sp>
        <p:nvSpPr>
          <p:cNvPr id="25" name="prior-work"/>
          <p:cNvSpPr/>
          <p:nvPr/>
        </p:nvSpPr>
        <p:spPr>
          <a:xfrm>
            <a:off x="457200" y="3108960"/>
            <a:ext cx="4005072" cy="1508760"/>
          </a:xfrm>
          <a:prstGeom prst="roundRect">
            <a:avLst>
              <a:gd name="adj" fmla="val 4848"/>
            </a:avLst>
          </a:prstGeom>
          <a:solidFill>
            <a:srgbClr val="F1F3F4"/>
          </a:solidFill>
          <a:ln w="12700">
            <a:solidFill>
              <a:srgbClr val="F1F3F4"/>
            </a:solidFill>
            <a:prstDash val="solid"/>
          </a:ln>
        </p:spPr>
      </p:sp>
      <p:sp>
        <p:nvSpPr>
          <p:cNvPr id="26" name="Text 24"/>
          <p:cNvSpPr txBox="1"/>
          <p:nvPr/>
        </p:nvSpPr>
        <p:spPr>
          <a:xfrm>
            <a:off x="658368" y="3291840"/>
            <a:ext cx="3657600" cy="228600"/>
          </a:xfrm>
          <a:prstGeom prst="rect">
            <a:avLst/>
          </a:prstGeom>
          <a:noFill/>
          <a:ln/>
        </p:spPr>
        <p:txBody>
          <a:bodyPr wrap="square" lIns="0" tIns="0" rIns="0" bIns="0" rtlCol="0" anchor="t"/>
          <a:lstStyle/>
          <a:p>
            <a:pPr indent="0" marL="0">
              <a:buNone/>
            </a:pPr>
            <a:r>
              <a:rPr lang="en-US" sz="1100" b="1" spc="100" kern="0" dirty="0">
                <a:solidFill>
                  <a:srgbClr val="5B6770"/>
                </a:solidFill>
                <a:latin typeface="Calibri" pitchFamily="34" charset="0"/>
                <a:ea typeface="Calibri" pitchFamily="34" charset="-122"/>
                <a:cs typeface="Calibri" pitchFamily="34" charset="-120"/>
              </a:rPr>
              <a:t>PRIOR WORK</a:t>
            </a:r>
            <a:endParaRPr lang="en-US" sz="1100" dirty="0"/>
          </a:p>
        </p:txBody>
      </p:sp>
      <p:sp>
        <p:nvSpPr>
          <p:cNvPr id="27" name="Text 25"/>
          <p:cNvSpPr txBox="1"/>
          <p:nvPr/>
        </p:nvSpPr>
        <p:spPr>
          <a:xfrm>
            <a:off x="658368" y="3584448"/>
            <a:ext cx="3602736" cy="914400"/>
          </a:xfrm>
          <a:prstGeom prst="rect">
            <a:avLst/>
          </a:prstGeom>
          <a:noFill/>
          <a:ln/>
        </p:spPr>
        <p:txBody>
          <a:bodyPr wrap="square" lIns="0" tIns="0" rIns="0" bIns="0" rtlCol="0" anchor="t"/>
          <a:lstStyle/>
          <a:p>
            <a:pPr indent="0" marL="0">
              <a:spcAft>
                <a:spcPts val="600"/>
              </a:spcAft>
              <a:buNone/>
            </a:pPr>
            <a:r>
              <a:rPr lang="en-US" sz="1400" b="1" dirty="0">
                <a:solidFill>
                  <a:srgbClr val="1F2A30"/>
                </a:solidFill>
                <a:latin typeface="Calibri" pitchFamily="34" charset="0"/>
                <a:ea typeface="Calibri" pitchFamily="34" charset="-122"/>
                <a:cs typeface="Calibri" pitchFamily="34" charset="-120"/>
              </a:rPr>
              <a:t>Adaptive-RAG </a:t>
            </a:r>
            <a:pPr indent="0" marL="0">
              <a:spcAft>
                <a:spcPts val="600"/>
              </a:spcAft>
              <a:buNone/>
            </a:pPr>
            <a:r>
              <a:rPr lang="en-US" sz="1400" dirty="0">
                <a:solidFill>
                  <a:srgbClr val="1F2A30"/>
                </a:solidFill>
                <a:latin typeface="Calibri" pitchFamily="34" charset="0"/>
                <a:ea typeface="Calibri" pitchFamily="34" charset="-122"/>
                <a:cs typeface="Calibri" pitchFamily="34" charset="-120"/>
              </a:rPr>
              <a:t>(Jeong et al., 2024): routes by question complexity</a:t>
            </a:r>
            <a:endParaRPr lang="en-US" sz="1400" dirty="0"/>
          </a:p>
          <a:p>
            <a:pPr indent="0" marL="0">
              <a:spcAft>
                <a:spcPts val="600"/>
              </a:spcAft>
              <a:buNone/>
            </a:pPr>
            <a:r>
              <a:rPr lang="en-US" sz="1400" b="1" dirty="0">
                <a:solidFill>
                  <a:srgbClr val="1F2A30"/>
                </a:solidFill>
                <a:latin typeface="Calibri" pitchFamily="34" charset="0"/>
                <a:ea typeface="Calibri" pitchFamily="34" charset="-122"/>
                <a:cs typeface="Calibri" pitchFamily="34" charset="-120"/>
              </a:rPr>
              <a:t>Self-RAG </a:t>
            </a:r>
            <a:pPr indent="0" marL="0">
              <a:spcAft>
                <a:spcPts val="600"/>
              </a:spcAft>
              <a:buNone/>
            </a:pPr>
            <a:r>
              <a:rPr lang="en-US" sz="1400" dirty="0">
                <a:solidFill>
                  <a:srgbClr val="1F2A30"/>
                </a:solidFill>
                <a:latin typeface="Calibri" pitchFamily="34" charset="0"/>
                <a:ea typeface="Calibri" pitchFamily="34" charset="-122"/>
                <a:cs typeface="Calibri" pitchFamily="34" charset="-120"/>
              </a:rPr>
              <a:t>(Asai et al., 2024): learns when to retrieve, critiques itself</a:t>
            </a:r>
            <a:endParaRPr lang="en-US" sz="1400" dirty="0"/>
          </a:p>
        </p:txBody>
      </p:sp>
      <p:sp>
        <p:nvSpPr>
          <p:cNvPr id="28" name="our-angle"/>
          <p:cNvSpPr/>
          <p:nvPr/>
        </p:nvSpPr>
        <p:spPr>
          <a:xfrm>
            <a:off x="4681728" y="3108960"/>
            <a:ext cx="4005072" cy="1508760"/>
          </a:xfrm>
          <a:prstGeom prst="roundRect">
            <a:avLst>
              <a:gd name="adj" fmla="val 4848"/>
            </a:avLst>
          </a:prstGeom>
          <a:solidFill>
            <a:srgbClr val="E3F1F1"/>
          </a:solidFill>
          <a:ln w="12700">
            <a:solidFill>
              <a:srgbClr val="E3F1F1"/>
            </a:solidFill>
            <a:prstDash val="solid"/>
          </a:ln>
        </p:spPr>
      </p:sp>
      <p:sp>
        <p:nvSpPr>
          <p:cNvPr id="29" name="Text 27"/>
          <p:cNvSpPr txBox="1"/>
          <p:nvPr/>
        </p:nvSpPr>
        <p:spPr>
          <a:xfrm>
            <a:off x="4882896" y="3291840"/>
            <a:ext cx="3657600" cy="228600"/>
          </a:xfrm>
          <a:prstGeom prst="rect">
            <a:avLst/>
          </a:prstGeom>
          <a:noFill/>
          <a:ln/>
        </p:spPr>
        <p:txBody>
          <a:bodyPr wrap="square" lIns="0" tIns="0" rIns="0" bIns="0" rtlCol="0" anchor="t"/>
          <a:lstStyle/>
          <a:p>
            <a:pPr indent="0" marL="0">
              <a:buNone/>
            </a:pPr>
            <a:r>
              <a:rPr lang="en-US" sz="1100" b="1" spc="100" kern="0" dirty="0">
                <a:solidFill>
                  <a:srgbClr val="0F7C80"/>
                </a:solidFill>
                <a:latin typeface="Calibri" pitchFamily="34" charset="0"/>
                <a:ea typeface="Calibri" pitchFamily="34" charset="-122"/>
                <a:cs typeface="Calibri" pitchFamily="34" charset="-120"/>
              </a:rPr>
              <a:t>OUR ANGLE</a:t>
            </a:r>
            <a:endParaRPr lang="en-US" sz="1100" dirty="0"/>
          </a:p>
        </p:txBody>
      </p:sp>
      <p:sp>
        <p:nvSpPr>
          <p:cNvPr id="30" name="Text 28"/>
          <p:cNvSpPr txBox="1"/>
          <p:nvPr/>
        </p:nvSpPr>
        <p:spPr>
          <a:xfrm>
            <a:off x="4882896" y="3584448"/>
            <a:ext cx="3602736" cy="914400"/>
          </a:xfrm>
          <a:prstGeom prst="rect">
            <a:avLst/>
          </a:prstGeom>
          <a:noFill/>
          <a:ln/>
        </p:spPr>
        <p:txBody>
          <a:bodyPr wrap="square" lIns="0" tIns="0" rIns="0" bIns="0" rtlCol="0" anchor="t"/>
          <a:lstStyle/>
          <a:p>
            <a:pPr indent="0" marL="0">
              <a:buNone/>
            </a:pPr>
            <a:r>
              <a:rPr lang="en-US" sz="1400" dirty="0">
                <a:solidFill>
                  <a:srgbClr val="1F2A30"/>
                </a:solidFill>
                <a:latin typeface="Calibri" pitchFamily="34" charset="0"/>
                <a:ea typeface="Calibri" pitchFamily="34" charset="-122"/>
                <a:cs typeface="Calibri" pitchFamily="34" charset="-120"/>
              </a:rPr>
              <a:t>They decide when to retrieve. We decide </a:t>
            </a:r>
            <a:pPr indent="0" marL="0">
              <a:buNone/>
            </a:pPr>
            <a:r>
              <a:rPr lang="en-US" sz="1400" b="1" dirty="0">
                <a:solidFill>
                  <a:srgbClr val="1F2A30"/>
                </a:solidFill>
                <a:latin typeface="Calibri" pitchFamily="34" charset="0"/>
                <a:ea typeface="Calibri" pitchFamily="34" charset="-122"/>
                <a:cs typeface="Calibri" pitchFamily="34" charset="-120"/>
              </a:rPr>
              <a:t>how much effort</a:t>
            </a:r>
            <a:pPr indent="0" marL="0">
              <a:buNone/>
            </a:pPr>
            <a:r>
              <a:rPr lang="en-US" sz="1400" dirty="0">
                <a:solidFill>
                  <a:srgbClr val="1F2A30"/>
                </a:solidFill>
                <a:latin typeface="Calibri" pitchFamily="34" charset="0"/>
                <a:ea typeface="Calibri" pitchFamily="34" charset="-122"/>
                <a:cs typeface="Calibri" pitchFamily="34" charset="-120"/>
              </a:rPr>
              <a:t> an enterprise question deserves (reuse, retry once, or refuse) and measure quality against latency and cost.</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228600"/>
          </a:xfrm>
          <a:prstGeom prst="rect">
            <a:avLst/>
          </a:prstGeom>
          <a:noFill/>
          <a:ln/>
        </p:spPr>
        <p:txBody>
          <a:bodyPr wrap="square" lIns="0" tIns="0" rIns="0" bIns="0" rtlCol="0" anchor="t"/>
          <a:lstStyle/>
          <a:p>
            <a:pPr indent="0" marL="0">
              <a:buNone/>
            </a:pPr>
            <a:r>
              <a:rPr lang="en-US" sz="1100" b="1" spc="100" kern="0" dirty="0">
                <a:solidFill>
                  <a:srgbClr val="0F7C80"/>
                </a:solidFill>
                <a:latin typeface="Calibri" pitchFamily="34" charset="0"/>
                <a:ea typeface="Calibri" pitchFamily="34" charset="-122"/>
                <a:cs typeface="Calibri" pitchFamily="34" charset="-120"/>
              </a:rPr>
              <a:t>WHAT WE HAVE LEARNED</a:t>
            </a:r>
            <a:endParaRPr lang="en-US" sz="1100" dirty="0"/>
          </a:p>
        </p:txBody>
      </p:sp>
      <p:sp>
        <p:nvSpPr>
          <p:cNvPr id="3" name="Text 1"/>
          <p:cNvSpPr txBox="1"/>
          <p:nvPr/>
        </p:nvSpPr>
        <p:spPr>
          <a:xfrm>
            <a:off x="457200" y="530352"/>
            <a:ext cx="8229600" cy="502920"/>
          </a:xfrm>
          <a:prstGeom prst="rect">
            <a:avLst/>
          </a:prstGeom>
          <a:noFill/>
          <a:ln/>
        </p:spPr>
        <p:txBody>
          <a:bodyPr wrap="square" lIns="0" tIns="0" rIns="0" bIns="0" rtlCol="0" anchor="t"/>
          <a:lstStyle/>
          <a:p>
            <a:pPr indent="0" marL="0">
              <a:buNone/>
            </a:pPr>
            <a:r>
              <a:rPr lang="en-US" sz="2800" b="1" dirty="0">
                <a:solidFill>
                  <a:srgbClr val="1F2A30"/>
                </a:solidFill>
                <a:latin typeface="Calibri" pitchFamily="34" charset="0"/>
                <a:ea typeface="Calibri" pitchFamily="34" charset="-122"/>
                <a:cs typeface="Calibri" pitchFamily="34" charset="-120"/>
              </a:rPr>
              <a:t>Search harder only when it is needed</a:t>
            </a:r>
            <a:endParaRPr lang="en-US" sz="2800" dirty="0"/>
          </a:p>
        </p:txBody>
      </p:sp>
      <p:sp>
        <p:nvSpPr>
          <p:cNvPr id="4" name="Text 2"/>
          <p:cNvSpPr txBox="1"/>
          <p:nvPr/>
        </p:nvSpPr>
        <p:spPr>
          <a:xfrm>
            <a:off x="457200" y="1033272"/>
            <a:ext cx="8229600" cy="274320"/>
          </a:xfrm>
          <a:prstGeom prst="rect">
            <a:avLst/>
          </a:prstGeom>
          <a:noFill/>
          <a:ln/>
        </p:spPr>
        <p:txBody>
          <a:bodyPr wrap="square" lIns="0" tIns="0" rIns="0" bIns="0" rtlCol="0" anchor="t"/>
          <a:lstStyle/>
          <a:p>
            <a:pPr indent="0" marL="0">
              <a:buNone/>
            </a:pPr>
            <a:r>
              <a:rPr lang="en-US" sz="1400" dirty="0">
                <a:solidFill>
                  <a:srgbClr val="5B6770"/>
                </a:solidFill>
                <a:latin typeface="Calibri" pitchFamily="34" charset="0"/>
                <a:ea typeface="Calibri" pitchFamily="34" charset="-122"/>
                <a:cs typeface="Calibri" pitchFamily="34" charset="-120"/>
              </a:rPr>
              <a:t>Extra LLM-assisted search runs only when keyword and vector search disagree on the top document</a:t>
            </a:r>
            <a:endParaRPr lang="en-US" sz="1400" dirty="0"/>
          </a:p>
        </p:txBody>
      </p:sp>
      <p:sp>
        <p:nvSpPr>
          <p:cNvPr id="5" name="Text 3"/>
          <p:cNvSpPr txBox="1"/>
          <p:nvPr/>
        </p:nvSpPr>
        <p:spPr>
          <a:xfrm>
            <a:off x="2743200" y="1481328"/>
            <a:ext cx="868680" cy="228600"/>
          </a:xfrm>
          <a:prstGeom prst="rect">
            <a:avLst/>
          </a:prstGeom>
          <a:noFill/>
          <a:ln/>
        </p:spPr>
        <p:txBody>
          <a:bodyPr wrap="square" lIns="0" tIns="0" rIns="0" bIns="0" rtlCol="0" anchor="t"/>
          <a:lstStyle/>
          <a:p>
            <a:pPr algn="r" indent="0" marL="0">
              <a:buNone/>
            </a:pPr>
            <a:r>
              <a:rPr lang="en-US" sz="1000" b="1" dirty="0">
                <a:solidFill>
                  <a:srgbClr val="5B6770"/>
                </a:solidFill>
                <a:latin typeface="Calibri" pitchFamily="34" charset="0"/>
                <a:ea typeface="Calibri" pitchFamily="34" charset="-122"/>
                <a:cs typeface="Calibri" pitchFamily="34" charset="-120"/>
              </a:rPr>
              <a:t>Ranking quality</a:t>
            </a:r>
            <a:endParaRPr lang="en-US" sz="1000" dirty="0"/>
          </a:p>
        </p:txBody>
      </p:sp>
      <p:sp>
        <p:nvSpPr>
          <p:cNvPr id="6" name="Text 4"/>
          <p:cNvSpPr txBox="1"/>
          <p:nvPr/>
        </p:nvSpPr>
        <p:spPr>
          <a:xfrm>
            <a:off x="3886200" y="1481328"/>
            <a:ext cx="822960" cy="228600"/>
          </a:xfrm>
          <a:prstGeom prst="rect">
            <a:avLst/>
          </a:prstGeom>
          <a:noFill/>
          <a:ln/>
        </p:spPr>
        <p:txBody>
          <a:bodyPr wrap="square" lIns="0" tIns="0" rIns="0" bIns="0" rtlCol="0" anchor="t"/>
          <a:lstStyle/>
          <a:p>
            <a:pPr algn="r" indent="0" marL="0">
              <a:buNone/>
            </a:pPr>
            <a:r>
              <a:rPr lang="en-US" sz="1000" b="1" dirty="0">
                <a:solidFill>
                  <a:srgbClr val="5B6770"/>
                </a:solidFill>
                <a:latin typeface="Calibri" pitchFamily="34" charset="0"/>
                <a:ea typeface="Calibri" pitchFamily="34" charset="-122"/>
                <a:cs typeface="Calibri" pitchFamily="34" charset="-120"/>
              </a:rPr>
              <a:t>Latency</a:t>
            </a:r>
            <a:endParaRPr lang="en-US" sz="1000" dirty="0"/>
          </a:p>
        </p:txBody>
      </p:sp>
      <p:sp>
        <p:nvSpPr>
          <p:cNvPr id="7" name="Text 5"/>
          <p:cNvSpPr txBox="1"/>
          <p:nvPr/>
        </p:nvSpPr>
        <p:spPr>
          <a:xfrm>
            <a:off x="502920" y="1819656"/>
            <a:ext cx="2468880" cy="274320"/>
          </a:xfrm>
          <a:prstGeom prst="rect">
            <a:avLst/>
          </a:prstGeom>
          <a:noFill/>
          <a:ln/>
        </p:spPr>
        <p:txBody>
          <a:bodyPr wrap="square" lIns="0" tIns="0" rIns="0" bIns="0" rtlCol="0" anchor="t"/>
          <a:lstStyle/>
          <a:p>
            <a:pPr indent="0" marL="0">
              <a:buNone/>
            </a:pPr>
            <a:r>
              <a:rPr lang="en-US" sz="1400" dirty="0">
                <a:solidFill>
                  <a:srgbClr val="1F2A30"/>
                </a:solidFill>
                <a:latin typeface="Calibri" pitchFamily="34" charset="0"/>
                <a:ea typeface="Calibri" pitchFamily="34" charset="-122"/>
                <a:cs typeface="Calibri" pitchFamily="34" charset="-120"/>
              </a:rPr>
              <a:t>Vector search only</a:t>
            </a:r>
            <a:endParaRPr lang="en-US" sz="1400" dirty="0"/>
          </a:p>
        </p:txBody>
      </p:sp>
      <p:sp>
        <p:nvSpPr>
          <p:cNvPr id="8" name="Text 6"/>
          <p:cNvSpPr txBox="1"/>
          <p:nvPr/>
        </p:nvSpPr>
        <p:spPr>
          <a:xfrm>
            <a:off x="3063240" y="1819656"/>
            <a:ext cx="548640" cy="274320"/>
          </a:xfrm>
          <a:prstGeom prst="rect">
            <a:avLst/>
          </a:prstGeom>
          <a:noFill/>
          <a:ln/>
        </p:spPr>
        <p:txBody>
          <a:bodyPr wrap="square" lIns="0" tIns="0" rIns="0" bIns="0" rtlCol="0" anchor="t"/>
          <a:lstStyle/>
          <a:p>
            <a:pPr algn="r" indent="0" marL="0">
              <a:buNone/>
            </a:pPr>
            <a:r>
              <a:rPr lang="en-US" sz="1400" dirty="0">
                <a:solidFill>
                  <a:srgbClr val="1F2A30"/>
                </a:solidFill>
                <a:latin typeface="Calibri" pitchFamily="34" charset="0"/>
                <a:ea typeface="Calibri" pitchFamily="34" charset="-122"/>
                <a:cs typeface="Calibri" pitchFamily="34" charset="-120"/>
              </a:rPr>
              <a:t>0.807</a:t>
            </a:r>
            <a:endParaRPr lang="en-US" sz="1400" dirty="0"/>
          </a:p>
        </p:txBody>
      </p:sp>
      <p:sp>
        <p:nvSpPr>
          <p:cNvPr id="9" name="Text 7"/>
          <p:cNvSpPr txBox="1"/>
          <p:nvPr/>
        </p:nvSpPr>
        <p:spPr>
          <a:xfrm>
            <a:off x="3886200" y="1819656"/>
            <a:ext cx="822960" cy="274320"/>
          </a:xfrm>
          <a:prstGeom prst="rect">
            <a:avLst/>
          </a:prstGeom>
          <a:noFill/>
          <a:ln/>
        </p:spPr>
        <p:txBody>
          <a:bodyPr wrap="square" lIns="0" tIns="0" rIns="0" bIns="0" rtlCol="0" anchor="t"/>
          <a:lstStyle/>
          <a:p>
            <a:pPr algn="r" indent="0" marL="0">
              <a:buNone/>
            </a:pPr>
            <a:r>
              <a:rPr lang="en-US" sz="1400" dirty="0">
                <a:solidFill>
                  <a:srgbClr val="1F2A30"/>
                </a:solidFill>
                <a:latin typeface="Calibri" pitchFamily="34" charset="0"/>
                <a:ea typeface="Calibri" pitchFamily="34" charset="-122"/>
                <a:cs typeface="Calibri" pitchFamily="34" charset="-120"/>
              </a:rPr>
              <a:t>30 ms</a:t>
            </a:r>
            <a:endParaRPr lang="en-US" sz="1400" dirty="0"/>
          </a:p>
        </p:txBody>
      </p:sp>
      <p:sp>
        <p:nvSpPr>
          <p:cNvPr id="10" name="Shape 8"/>
          <p:cNvSpPr/>
          <p:nvPr/>
        </p:nvSpPr>
        <p:spPr>
          <a:xfrm>
            <a:off x="457200" y="2167128"/>
            <a:ext cx="4251960" cy="0"/>
          </a:xfrm>
          <a:prstGeom prst="line">
            <a:avLst/>
          </a:prstGeom>
          <a:noFill/>
          <a:ln w="12700">
            <a:solidFill>
              <a:srgbClr val="F1F3F4"/>
            </a:solidFill>
            <a:prstDash val="solid"/>
          </a:ln>
        </p:spPr>
      </p:sp>
      <p:sp>
        <p:nvSpPr>
          <p:cNvPr id="11" name="Text 9"/>
          <p:cNvSpPr txBox="1"/>
          <p:nvPr/>
        </p:nvSpPr>
        <p:spPr>
          <a:xfrm>
            <a:off x="502920" y="2258568"/>
            <a:ext cx="2468880" cy="274320"/>
          </a:xfrm>
          <a:prstGeom prst="rect">
            <a:avLst/>
          </a:prstGeom>
          <a:noFill/>
          <a:ln/>
        </p:spPr>
        <p:txBody>
          <a:bodyPr wrap="square" lIns="0" tIns="0" rIns="0" bIns="0" rtlCol="0" anchor="t"/>
          <a:lstStyle/>
          <a:p>
            <a:pPr indent="0" marL="0">
              <a:buNone/>
            </a:pPr>
            <a:r>
              <a:rPr lang="en-US" sz="1400" dirty="0">
                <a:solidFill>
                  <a:srgbClr val="1F2A30"/>
                </a:solidFill>
                <a:latin typeface="Calibri" pitchFamily="34" charset="0"/>
                <a:ea typeface="Calibri" pitchFamily="34" charset="-122"/>
                <a:cs typeface="Calibri" pitchFamily="34" charset="-120"/>
              </a:rPr>
              <a:t>Hybrid: vector + keyword</a:t>
            </a:r>
            <a:endParaRPr lang="en-US" sz="1400" dirty="0"/>
          </a:p>
        </p:txBody>
      </p:sp>
      <p:sp>
        <p:nvSpPr>
          <p:cNvPr id="12" name="Text 10"/>
          <p:cNvSpPr txBox="1"/>
          <p:nvPr/>
        </p:nvSpPr>
        <p:spPr>
          <a:xfrm>
            <a:off x="3063240" y="2258568"/>
            <a:ext cx="548640" cy="274320"/>
          </a:xfrm>
          <a:prstGeom prst="rect">
            <a:avLst/>
          </a:prstGeom>
          <a:noFill/>
          <a:ln/>
        </p:spPr>
        <p:txBody>
          <a:bodyPr wrap="square" lIns="0" tIns="0" rIns="0" bIns="0" rtlCol="0" anchor="t"/>
          <a:lstStyle/>
          <a:p>
            <a:pPr algn="r" indent="0" marL="0">
              <a:buNone/>
            </a:pPr>
            <a:r>
              <a:rPr lang="en-US" sz="1400" dirty="0">
                <a:solidFill>
                  <a:srgbClr val="1F2A30"/>
                </a:solidFill>
                <a:latin typeface="Calibri" pitchFamily="34" charset="0"/>
                <a:ea typeface="Calibri" pitchFamily="34" charset="-122"/>
                <a:cs typeface="Calibri" pitchFamily="34" charset="-120"/>
              </a:rPr>
              <a:t>0.846</a:t>
            </a:r>
            <a:endParaRPr lang="en-US" sz="1400" dirty="0"/>
          </a:p>
        </p:txBody>
      </p:sp>
      <p:sp>
        <p:nvSpPr>
          <p:cNvPr id="13" name="Text 11"/>
          <p:cNvSpPr txBox="1"/>
          <p:nvPr/>
        </p:nvSpPr>
        <p:spPr>
          <a:xfrm>
            <a:off x="3886200" y="2258568"/>
            <a:ext cx="822960" cy="274320"/>
          </a:xfrm>
          <a:prstGeom prst="rect">
            <a:avLst/>
          </a:prstGeom>
          <a:noFill/>
          <a:ln/>
        </p:spPr>
        <p:txBody>
          <a:bodyPr wrap="square" lIns="0" tIns="0" rIns="0" bIns="0" rtlCol="0" anchor="t"/>
          <a:lstStyle/>
          <a:p>
            <a:pPr algn="r" indent="0" marL="0">
              <a:buNone/>
            </a:pPr>
            <a:r>
              <a:rPr lang="en-US" sz="1400" dirty="0">
                <a:solidFill>
                  <a:srgbClr val="1F2A30"/>
                </a:solidFill>
                <a:latin typeface="Calibri" pitchFamily="34" charset="0"/>
                <a:ea typeface="Calibri" pitchFamily="34" charset="-122"/>
                <a:cs typeface="Calibri" pitchFamily="34" charset="-120"/>
              </a:rPr>
              <a:t>30 ms</a:t>
            </a:r>
            <a:endParaRPr lang="en-US" sz="1400" dirty="0"/>
          </a:p>
        </p:txBody>
      </p:sp>
      <p:sp>
        <p:nvSpPr>
          <p:cNvPr id="14" name="Shape 12"/>
          <p:cNvSpPr/>
          <p:nvPr/>
        </p:nvSpPr>
        <p:spPr>
          <a:xfrm>
            <a:off x="457200" y="2606040"/>
            <a:ext cx="4251960" cy="0"/>
          </a:xfrm>
          <a:prstGeom prst="line">
            <a:avLst/>
          </a:prstGeom>
          <a:noFill/>
          <a:ln w="12700">
            <a:solidFill>
              <a:srgbClr val="F1F3F4"/>
            </a:solidFill>
            <a:prstDash val="solid"/>
          </a:ln>
        </p:spPr>
      </p:sp>
      <p:sp>
        <p:nvSpPr>
          <p:cNvPr id="15" name="Text 13"/>
          <p:cNvSpPr txBox="1"/>
          <p:nvPr/>
        </p:nvSpPr>
        <p:spPr>
          <a:xfrm>
            <a:off x="502920" y="2697480"/>
            <a:ext cx="2468880" cy="274320"/>
          </a:xfrm>
          <a:prstGeom prst="rect">
            <a:avLst/>
          </a:prstGeom>
          <a:noFill/>
          <a:ln/>
        </p:spPr>
        <p:txBody>
          <a:bodyPr wrap="square" lIns="0" tIns="0" rIns="0" bIns="0" rtlCol="0" anchor="t"/>
          <a:lstStyle/>
          <a:p>
            <a:pPr indent="0" marL="0">
              <a:buNone/>
            </a:pPr>
            <a:r>
              <a:rPr lang="en-US" sz="1400" dirty="0">
                <a:solidFill>
                  <a:srgbClr val="1F2A30"/>
                </a:solidFill>
                <a:latin typeface="Calibri" pitchFamily="34" charset="0"/>
                <a:ea typeface="Calibri" pitchFamily="34" charset="-122"/>
                <a:cs typeface="Calibri" pitchFamily="34" charset="-120"/>
              </a:rPr>
              <a:t>+ extra search, every question</a:t>
            </a:r>
            <a:endParaRPr lang="en-US" sz="1400" dirty="0"/>
          </a:p>
        </p:txBody>
      </p:sp>
      <p:sp>
        <p:nvSpPr>
          <p:cNvPr id="16" name="Text 14"/>
          <p:cNvSpPr txBox="1"/>
          <p:nvPr/>
        </p:nvSpPr>
        <p:spPr>
          <a:xfrm>
            <a:off x="3063240" y="2697480"/>
            <a:ext cx="548640" cy="274320"/>
          </a:xfrm>
          <a:prstGeom prst="rect">
            <a:avLst/>
          </a:prstGeom>
          <a:noFill/>
          <a:ln/>
        </p:spPr>
        <p:txBody>
          <a:bodyPr wrap="square" lIns="0" tIns="0" rIns="0" bIns="0" rtlCol="0" anchor="t"/>
          <a:lstStyle/>
          <a:p>
            <a:pPr algn="r" indent="0" marL="0">
              <a:buNone/>
            </a:pPr>
            <a:r>
              <a:rPr lang="en-US" sz="1400" dirty="0">
                <a:solidFill>
                  <a:srgbClr val="1F2A30"/>
                </a:solidFill>
                <a:latin typeface="Calibri" pitchFamily="34" charset="0"/>
                <a:ea typeface="Calibri" pitchFamily="34" charset="-122"/>
                <a:cs typeface="Calibri" pitchFamily="34" charset="-120"/>
              </a:rPr>
              <a:t>0.825</a:t>
            </a:r>
            <a:endParaRPr lang="en-US" sz="1400" dirty="0"/>
          </a:p>
        </p:txBody>
      </p:sp>
      <p:sp>
        <p:nvSpPr>
          <p:cNvPr id="17" name="Text 15"/>
          <p:cNvSpPr txBox="1"/>
          <p:nvPr/>
        </p:nvSpPr>
        <p:spPr>
          <a:xfrm>
            <a:off x="3886200" y="2697480"/>
            <a:ext cx="822960" cy="274320"/>
          </a:xfrm>
          <a:prstGeom prst="rect">
            <a:avLst/>
          </a:prstGeom>
          <a:noFill/>
          <a:ln/>
        </p:spPr>
        <p:txBody>
          <a:bodyPr wrap="square" lIns="0" tIns="0" rIns="0" bIns="0" rtlCol="0" anchor="t"/>
          <a:lstStyle/>
          <a:p>
            <a:pPr algn="r" indent="0" marL="0">
              <a:buNone/>
            </a:pPr>
            <a:r>
              <a:rPr lang="en-US" sz="1400" dirty="0">
                <a:solidFill>
                  <a:srgbClr val="1F2A30"/>
                </a:solidFill>
                <a:latin typeface="Calibri" pitchFamily="34" charset="0"/>
                <a:ea typeface="Calibri" pitchFamily="34" charset="-122"/>
                <a:cs typeface="Calibri" pitchFamily="34" charset="-120"/>
              </a:rPr>
              <a:t>1,320 ms</a:t>
            </a:r>
            <a:endParaRPr lang="en-US" sz="1400" dirty="0"/>
          </a:p>
        </p:txBody>
      </p:sp>
      <p:sp>
        <p:nvSpPr>
          <p:cNvPr id="18" name="best-row"/>
          <p:cNvSpPr/>
          <p:nvPr/>
        </p:nvSpPr>
        <p:spPr>
          <a:xfrm>
            <a:off x="365760" y="3044952"/>
            <a:ext cx="4434840" cy="438912"/>
          </a:xfrm>
          <a:prstGeom prst="roundRect">
            <a:avLst>
              <a:gd name="adj" fmla="val 12500"/>
            </a:avLst>
          </a:prstGeom>
          <a:solidFill>
            <a:srgbClr val="E3F1F1"/>
          </a:solidFill>
          <a:ln w="12700">
            <a:solidFill>
              <a:srgbClr val="E3F1F1"/>
            </a:solidFill>
            <a:prstDash val="solid"/>
          </a:ln>
        </p:spPr>
      </p:sp>
      <p:sp>
        <p:nvSpPr>
          <p:cNvPr id="19" name="Text 17"/>
          <p:cNvSpPr txBox="1"/>
          <p:nvPr/>
        </p:nvSpPr>
        <p:spPr>
          <a:xfrm>
            <a:off x="502920" y="3136392"/>
            <a:ext cx="2468880" cy="274320"/>
          </a:xfrm>
          <a:prstGeom prst="rect">
            <a:avLst/>
          </a:prstGeom>
          <a:noFill/>
          <a:ln/>
        </p:spPr>
        <p:txBody>
          <a:bodyPr wrap="square" lIns="0" tIns="0" rIns="0" bIns="0" rtlCol="0" anchor="t"/>
          <a:lstStyle/>
          <a:p>
            <a:pPr indent="0" marL="0">
              <a:buNone/>
            </a:pPr>
            <a:r>
              <a:rPr lang="en-US" sz="1400" b="1" dirty="0">
                <a:solidFill>
                  <a:srgbClr val="0F7C80"/>
                </a:solidFill>
                <a:latin typeface="Calibri" pitchFamily="34" charset="0"/>
                <a:ea typeface="Calibri" pitchFamily="34" charset="-122"/>
                <a:cs typeface="Calibri" pitchFamily="34" charset="-120"/>
              </a:rPr>
              <a:t>+ extra search, when needed</a:t>
            </a:r>
            <a:endParaRPr lang="en-US" sz="1400" dirty="0"/>
          </a:p>
        </p:txBody>
      </p:sp>
      <p:sp>
        <p:nvSpPr>
          <p:cNvPr id="20" name="Text 18"/>
          <p:cNvSpPr txBox="1"/>
          <p:nvPr/>
        </p:nvSpPr>
        <p:spPr>
          <a:xfrm>
            <a:off x="3063240" y="3136392"/>
            <a:ext cx="548640" cy="274320"/>
          </a:xfrm>
          <a:prstGeom prst="rect">
            <a:avLst/>
          </a:prstGeom>
          <a:noFill/>
          <a:ln/>
        </p:spPr>
        <p:txBody>
          <a:bodyPr wrap="square" lIns="0" tIns="0" rIns="0" bIns="0" rtlCol="0" anchor="t"/>
          <a:lstStyle/>
          <a:p>
            <a:pPr algn="r" indent="0" marL="0">
              <a:buNone/>
            </a:pPr>
            <a:r>
              <a:rPr lang="en-US" sz="1400" b="1" dirty="0">
                <a:solidFill>
                  <a:srgbClr val="0F7C80"/>
                </a:solidFill>
                <a:latin typeface="Calibri" pitchFamily="34" charset="0"/>
                <a:ea typeface="Calibri" pitchFamily="34" charset="-122"/>
                <a:cs typeface="Calibri" pitchFamily="34" charset="-120"/>
              </a:rPr>
              <a:t>0.855</a:t>
            </a:r>
            <a:endParaRPr lang="en-US" sz="1400" dirty="0"/>
          </a:p>
        </p:txBody>
      </p:sp>
      <p:sp>
        <p:nvSpPr>
          <p:cNvPr id="21" name="Text 19"/>
          <p:cNvSpPr txBox="1"/>
          <p:nvPr/>
        </p:nvSpPr>
        <p:spPr>
          <a:xfrm>
            <a:off x="3886200" y="3136392"/>
            <a:ext cx="822960" cy="274320"/>
          </a:xfrm>
          <a:prstGeom prst="rect">
            <a:avLst/>
          </a:prstGeom>
          <a:noFill/>
          <a:ln/>
        </p:spPr>
        <p:txBody>
          <a:bodyPr wrap="square" lIns="0" tIns="0" rIns="0" bIns="0" rtlCol="0" anchor="t"/>
          <a:lstStyle/>
          <a:p>
            <a:pPr algn="r" indent="0" marL="0">
              <a:buNone/>
            </a:pPr>
            <a:r>
              <a:rPr lang="en-US" sz="1400" b="1" dirty="0">
                <a:solidFill>
                  <a:srgbClr val="0F7C80"/>
                </a:solidFill>
                <a:latin typeface="Calibri" pitchFamily="34" charset="0"/>
                <a:ea typeface="Calibri" pitchFamily="34" charset="-122"/>
                <a:cs typeface="Calibri" pitchFamily="34" charset="-120"/>
              </a:rPr>
              <a:t>592 ms</a:t>
            </a:r>
            <a:endParaRPr lang="en-US" sz="1400" dirty="0"/>
          </a:p>
        </p:txBody>
      </p:sp>
      <p:sp>
        <p:nvSpPr>
          <p:cNvPr id="22" name="takeaway"/>
          <p:cNvSpPr/>
          <p:nvPr/>
        </p:nvSpPr>
        <p:spPr>
          <a:xfrm>
            <a:off x="457200" y="3657600"/>
            <a:ext cx="4251960" cy="914400"/>
          </a:xfrm>
          <a:prstGeom prst="roundRect">
            <a:avLst>
              <a:gd name="adj" fmla="val 8000"/>
            </a:avLst>
          </a:prstGeom>
          <a:solidFill>
            <a:srgbClr val="F1F3F4"/>
          </a:solidFill>
          <a:ln w="12700">
            <a:solidFill>
              <a:srgbClr val="F1F3F4"/>
            </a:solidFill>
            <a:prstDash val="solid"/>
          </a:ln>
        </p:spPr>
      </p:sp>
      <p:sp>
        <p:nvSpPr>
          <p:cNvPr id="23" name="Text 21"/>
          <p:cNvSpPr txBox="1"/>
          <p:nvPr/>
        </p:nvSpPr>
        <p:spPr>
          <a:xfrm>
            <a:off x="640080" y="3794760"/>
            <a:ext cx="3886200" cy="685800"/>
          </a:xfrm>
          <a:prstGeom prst="rect">
            <a:avLst/>
          </a:prstGeom>
          <a:noFill/>
          <a:ln/>
        </p:spPr>
        <p:txBody>
          <a:bodyPr wrap="square" lIns="0" tIns="0" rIns="0" bIns="0" rtlCol="0" anchor="t"/>
          <a:lstStyle/>
          <a:p>
            <a:pPr indent="0" marL="0">
              <a:buNone/>
            </a:pPr>
            <a:r>
              <a:rPr lang="en-US" sz="1300" b="1" dirty="0">
                <a:solidFill>
                  <a:srgbClr val="1F2A30"/>
                </a:solidFill>
                <a:latin typeface="Calibri" pitchFamily="34" charset="0"/>
                <a:ea typeface="Calibri" pitchFamily="34" charset="-122"/>
                <a:cs typeface="Calibri" pitchFamily="34" charset="-120"/>
              </a:rPr>
              <a:t>Takeaway: </a:t>
            </a:r>
            <a:pPr indent="0" marL="0">
              <a:buNone/>
            </a:pPr>
            <a:r>
              <a:rPr lang="en-US" sz="1300" dirty="0">
                <a:solidFill>
                  <a:srgbClr val="1F2A30"/>
                </a:solidFill>
                <a:latin typeface="Calibri" pitchFamily="34" charset="0"/>
                <a:ea typeface="Calibri" pitchFamily="34" charset="-122"/>
                <a:cs typeface="Calibri" pitchFamily="34" charset="-120"/>
              </a:rPr>
              <a:t>targeting the extra search (46% of questions) cuts latency by more than half versus always searching, and ranks better.</a:t>
            </a:r>
            <a:endParaRPr lang="en-US" sz="1300" dirty="0"/>
          </a:p>
        </p:txBody>
      </p:sp>
      <p:sp>
        <p:nvSpPr>
          <p:cNvPr id="24" name="Text 22"/>
          <p:cNvSpPr txBox="1"/>
          <p:nvPr/>
        </p:nvSpPr>
        <p:spPr>
          <a:xfrm>
            <a:off x="5120640" y="1481328"/>
            <a:ext cx="3566160" cy="228600"/>
          </a:xfrm>
          <a:prstGeom prst="rect">
            <a:avLst/>
          </a:prstGeom>
          <a:noFill/>
          <a:ln/>
        </p:spPr>
        <p:txBody>
          <a:bodyPr wrap="square" lIns="0" tIns="0" rIns="0" bIns="0" rtlCol="0" anchor="t"/>
          <a:lstStyle/>
          <a:p>
            <a:pPr indent="0" marL="0">
              <a:buNone/>
            </a:pPr>
            <a:r>
              <a:rPr lang="en-US" sz="1100" b="1" spc="100" kern="0" dirty="0">
                <a:solidFill>
                  <a:srgbClr val="0F7C80"/>
                </a:solidFill>
                <a:latin typeface="Calibri" pitchFamily="34" charset="0"/>
                <a:ea typeface="Calibri" pitchFamily="34" charset="-122"/>
                <a:cs typeface="Calibri" pitchFamily="34" charset="-120"/>
              </a:rPr>
              <a:t>BEFORE THE FINAL REPORT</a:t>
            </a:r>
            <a:endParaRPr lang="en-US" sz="1100" dirty="0"/>
          </a:p>
        </p:txBody>
      </p:sp>
      <p:sp>
        <p:nvSpPr>
          <p:cNvPr id="25" name="Text 23"/>
          <p:cNvSpPr txBox="1"/>
          <p:nvPr/>
        </p:nvSpPr>
        <p:spPr>
          <a:xfrm>
            <a:off x="5120640" y="1828800"/>
            <a:ext cx="274320" cy="365760"/>
          </a:xfrm>
          <a:prstGeom prst="rect">
            <a:avLst/>
          </a:prstGeom>
          <a:noFill/>
          <a:ln/>
        </p:spPr>
        <p:txBody>
          <a:bodyPr wrap="square" lIns="0" tIns="0" rIns="0" bIns="0" rtlCol="0" anchor="t"/>
          <a:lstStyle/>
          <a:p>
            <a:pPr indent="0" marL="0">
              <a:buNone/>
            </a:pPr>
            <a:r>
              <a:rPr lang="en-US" sz="1400" b="1" dirty="0">
                <a:solidFill>
                  <a:srgbClr val="0F7C80"/>
                </a:solidFill>
                <a:latin typeface="Calibri" pitchFamily="34" charset="0"/>
                <a:ea typeface="Calibri" pitchFamily="34" charset="-122"/>
                <a:cs typeface="Calibri" pitchFamily="34" charset="-120"/>
              </a:rPr>
              <a:t>1</a:t>
            </a:r>
            <a:endParaRPr lang="en-US" sz="1400" dirty="0"/>
          </a:p>
        </p:txBody>
      </p:sp>
      <p:sp>
        <p:nvSpPr>
          <p:cNvPr id="26" name="Text 24"/>
          <p:cNvSpPr txBox="1"/>
          <p:nvPr/>
        </p:nvSpPr>
        <p:spPr>
          <a:xfrm>
            <a:off x="5413248" y="1828800"/>
            <a:ext cx="3291840" cy="365760"/>
          </a:xfrm>
          <a:prstGeom prst="rect">
            <a:avLst/>
          </a:prstGeom>
          <a:noFill/>
          <a:ln/>
        </p:spPr>
        <p:txBody>
          <a:bodyPr wrap="square" lIns="0" tIns="0" rIns="0" bIns="0" rtlCol="0" anchor="t"/>
          <a:lstStyle/>
          <a:p>
            <a:pPr indent="0" marL="0">
              <a:buNone/>
            </a:pPr>
            <a:r>
              <a:rPr lang="en-US" sz="1400" dirty="0">
                <a:solidFill>
                  <a:srgbClr val="1F2A30"/>
                </a:solidFill>
                <a:latin typeface="Calibri" pitchFamily="34" charset="0"/>
                <a:ea typeface="Calibri" pitchFamily="34" charset="-122"/>
                <a:cs typeface="Calibri" pitchFamily="34" charset="-120"/>
              </a:rPr>
              <a:t>Confirm on validation and test questions</a:t>
            </a:r>
            <a:endParaRPr lang="en-US" sz="1400" dirty="0"/>
          </a:p>
        </p:txBody>
      </p:sp>
      <p:sp>
        <p:nvSpPr>
          <p:cNvPr id="27" name="Text 25"/>
          <p:cNvSpPr txBox="1"/>
          <p:nvPr/>
        </p:nvSpPr>
        <p:spPr>
          <a:xfrm>
            <a:off x="5120640" y="2304288"/>
            <a:ext cx="274320" cy="365760"/>
          </a:xfrm>
          <a:prstGeom prst="rect">
            <a:avLst/>
          </a:prstGeom>
          <a:noFill/>
          <a:ln/>
        </p:spPr>
        <p:txBody>
          <a:bodyPr wrap="square" lIns="0" tIns="0" rIns="0" bIns="0" rtlCol="0" anchor="t"/>
          <a:lstStyle/>
          <a:p>
            <a:pPr indent="0" marL="0">
              <a:buNone/>
            </a:pPr>
            <a:r>
              <a:rPr lang="en-US" sz="1400" b="1" dirty="0">
                <a:solidFill>
                  <a:srgbClr val="0F7C80"/>
                </a:solidFill>
                <a:latin typeface="Calibri" pitchFamily="34" charset="0"/>
                <a:ea typeface="Calibri" pitchFamily="34" charset="-122"/>
                <a:cs typeface="Calibri" pitchFamily="34" charset="-120"/>
              </a:rPr>
              <a:t>2</a:t>
            </a:r>
            <a:endParaRPr lang="en-US" sz="1400" dirty="0"/>
          </a:p>
        </p:txBody>
      </p:sp>
      <p:sp>
        <p:nvSpPr>
          <p:cNvPr id="28" name="Text 26"/>
          <p:cNvSpPr txBox="1"/>
          <p:nvPr/>
        </p:nvSpPr>
        <p:spPr>
          <a:xfrm>
            <a:off x="5413248" y="2304288"/>
            <a:ext cx="3291840" cy="365760"/>
          </a:xfrm>
          <a:prstGeom prst="rect">
            <a:avLst/>
          </a:prstGeom>
          <a:noFill/>
          <a:ln/>
        </p:spPr>
        <p:txBody>
          <a:bodyPr wrap="square" lIns="0" tIns="0" rIns="0" bIns="0" rtlCol="0" anchor="t"/>
          <a:lstStyle/>
          <a:p>
            <a:pPr indent="0" marL="0">
              <a:buNone/>
            </a:pPr>
            <a:r>
              <a:rPr lang="en-US" sz="1400" dirty="0">
                <a:solidFill>
                  <a:srgbClr val="1F2A30"/>
                </a:solidFill>
                <a:latin typeface="Calibri" pitchFamily="34" charset="0"/>
                <a:ea typeface="Calibri" pitchFamily="34" charset="-122"/>
                <a:cs typeface="Calibri" pitchFamily="34" charset="-120"/>
              </a:rPr>
              <a:t>Grounded answers with citations, plus refusal</a:t>
            </a:r>
            <a:endParaRPr lang="en-US" sz="1400" dirty="0"/>
          </a:p>
        </p:txBody>
      </p:sp>
      <p:sp>
        <p:nvSpPr>
          <p:cNvPr id="29" name="Text 27"/>
          <p:cNvSpPr txBox="1"/>
          <p:nvPr/>
        </p:nvSpPr>
        <p:spPr>
          <a:xfrm>
            <a:off x="5120640" y="2779776"/>
            <a:ext cx="274320" cy="365760"/>
          </a:xfrm>
          <a:prstGeom prst="rect">
            <a:avLst/>
          </a:prstGeom>
          <a:noFill/>
          <a:ln/>
        </p:spPr>
        <p:txBody>
          <a:bodyPr wrap="square" lIns="0" tIns="0" rIns="0" bIns="0" rtlCol="0" anchor="t"/>
          <a:lstStyle/>
          <a:p>
            <a:pPr indent="0" marL="0">
              <a:buNone/>
            </a:pPr>
            <a:r>
              <a:rPr lang="en-US" sz="1400" b="1" dirty="0">
                <a:solidFill>
                  <a:srgbClr val="0F7C80"/>
                </a:solidFill>
                <a:latin typeface="Calibri" pitchFamily="34" charset="0"/>
                <a:ea typeface="Calibri" pitchFamily="34" charset="-122"/>
                <a:cs typeface="Calibri" pitchFamily="34" charset="-120"/>
              </a:rPr>
              <a:t>3</a:t>
            </a:r>
            <a:endParaRPr lang="en-US" sz="1400" dirty="0"/>
          </a:p>
        </p:txBody>
      </p:sp>
      <p:sp>
        <p:nvSpPr>
          <p:cNvPr id="30" name="Text 28"/>
          <p:cNvSpPr txBox="1"/>
          <p:nvPr/>
        </p:nvSpPr>
        <p:spPr>
          <a:xfrm>
            <a:off x="5413248" y="2779776"/>
            <a:ext cx="3291840" cy="365760"/>
          </a:xfrm>
          <a:prstGeom prst="rect">
            <a:avLst/>
          </a:prstGeom>
          <a:noFill/>
          <a:ln/>
        </p:spPr>
        <p:txBody>
          <a:bodyPr wrap="square" lIns="0" tIns="0" rIns="0" bIns="0" rtlCol="0" anchor="t"/>
          <a:lstStyle/>
          <a:p>
            <a:pPr indent="0" marL="0">
              <a:buNone/>
            </a:pPr>
            <a:r>
              <a:rPr lang="en-US" sz="1400" dirty="0">
                <a:solidFill>
                  <a:srgbClr val="1F2A30"/>
                </a:solidFill>
                <a:latin typeface="Calibri" pitchFamily="34" charset="0"/>
                <a:ea typeface="Calibri" pitchFamily="34" charset="-122"/>
                <a:cs typeface="Calibri" pitchFamily="34" charset="-120"/>
              </a:rPr>
              <a:t>Verified cache for repeat questions</a:t>
            </a:r>
            <a:endParaRPr lang="en-US" sz="1400" dirty="0"/>
          </a:p>
        </p:txBody>
      </p:sp>
      <p:sp>
        <p:nvSpPr>
          <p:cNvPr id="31" name="Text 29"/>
          <p:cNvSpPr txBox="1"/>
          <p:nvPr/>
        </p:nvSpPr>
        <p:spPr>
          <a:xfrm>
            <a:off x="5120640" y="3255264"/>
            <a:ext cx="274320" cy="365760"/>
          </a:xfrm>
          <a:prstGeom prst="rect">
            <a:avLst/>
          </a:prstGeom>
          <a:noFill/>
          <a:ln/>
        </p:spPr>
        <p:txBody>
          <a:bodyPr wrap="square" lIns="0" tIns="0" rIns="0" bIns="0" rtlCol="0" anchor="t"/>
          <a:lstStyle/>
          <a:p>
            <a:pPr indent="0" marL="0">
              <a:buNone/>
            </a:pPr>
            <a:r>
              <a:rPr lang="en-US" sz="1400" b="1" dirty="0">
                <a:solidFill>
                  <a:srgbClr val="0F7C80"/>
                </a:solidFill>
                <a:latin typeface="Calibri" pitchFamily="34" charset="0"/>
                <a:ea typeface="Calibri" pitchFamily="34" charset="-122"/>
                <a:cs typeface="Calibri" pitchFamily="34" charset="-120"/>
              </a:rPr>
              <a:t>4</a:t>
            </a:r>
            <a:endParaRPr lang="en-US" sz="1400" dirty="0"/>
          </a:p>
        </p:txBody>
      </p:sp>
      <p:sp>
        <p:nvSpPr>
          <p:cNvPr id="32" name="Text 30"/>
          <p:cNvSpPr txBox="1"/>
          <p:nvPr/>
        </p:nvSpPr>
        <p:spPr>
          <a:xfrm>
            <a:off x="5413248" y="3255264"/>
            <a:ext cx="3291840" cy="365760"/>
          </a:xfrm>
          <a:prstGeom prst="rect">
            <a:avLst/>
          </a:prstGeom>
          <a:noFill/>
          <a:ln/>
        </p:spPr>
        <p:txBody>
          <a:bodyPr wrap="square" lIns="0" tIns="0" rIns="0" bIns="0" rtlCol="0" anchor="t"/>
          <a:lstStyle/>
          <a:p>
            <a:pPr indent="0" marL="0">
              <a:buNone/>
            </a:pPr>
            <a:r>
              <a:rPr lang="en-US" sz="1400" dirty="0">
                <a:solidFill>
                  <a:srgbClr val="1F2A30"/>
                </a:solidFill>
                <a:latin typeface="Calibri" pitchFamily="34" charset="0"/>
                <a:ea typeface="Calibri" pitchFamily="34" charset="-122"/>
                <a:cs typeface="Calibri" pitchFamily="34" charset="-120"/>
              </a:rPr>
              <a:t>Measure answer quality, latency and cost</a:t>
            </a:r>
            <a:endParaRPr lang="en-US" sz="1400" dirty="0"/>
          </a:p>
        </p:txBody>
      </p:sp>
      <p:sp>
        <p:nvSpPr>
          <p:cNvPr id="33" name="Text 31"/>
          <p:cNvSpPr txBox="1"/>
          <p:nvPr/>
        </p:nvSpPr>
        <p:spPr>
          <a:xfrm>
            <a:off x="5120640" y="3730752"/>
            <a:ext cx="274320" cy="365760"/>
          </a:xfrm>
          <a:prstGeom prst="rect">
            <a:avLst/>
          </a:prstGeom>
          <a:noFill/>
          <a:ln/>
        </p:spPr>
        <p:txBody>
          <a:bodyPr wrap="square" lIns="0" tIns="0" rIns="0" bIns="0" rtlCol="0" anchor="t"/>
          <a:lstStyle/>
          <a:p>
            <a:pPr indent="0" marL="0">
              <a:buNone/>
            </a:pPr>
            <a:r>
              <a:rPr lang="en-US" sz="1400" b="1" dirty="0">
                <a:solidFill>
                  <a:srgbClr val="0F7C80"/>
                </a:solidFill>
                <a:latin typeface="Calibri" pitchFamily="34" charset="0"/>
                <a:ea typeface="Calibri" pitchFamily="34" charset="-122"/>
                <a:cs typeface="Calibri" pitchFamily="34" charset="-120"/>
              </a:rPr>
              <a:t>5</a:t>
            </a:r>
            <a:endParaRPr lang="en-US" sz="1400" dirty="0"/>
          </a:p>
        </p:txBody>
      </p:sp>
      <p:sp>
        <p:nvSpPr>
          <p:cNvPr id="34" name="Text 32"/>
          <p:cNvSpPr txBox="1"/>
          <p:nvPr/>
        </p:nvSpPr>
        <p:spPr>
          <a:xfrm>
            <a:off x="5413248" y="3730752"/>
            <a:ext cx="3291840" cy="365760"/>
          </a:xfrm>
          <a:prstGeom prst="rect">
            <a:avLst/>
          </a:prstGeom>
          <a:noFill/>
          <a:ln/>
        </p:spPr>
        <p:txBody>
          <a:bodyPr wrap="square" lIns="0" tIns="0" rIns="0" bIns="0" rtlCol="0" anchor="t"/>
          <a:lstStyle/>
          <a:p>
            <a:pPr indent="0" marL="0">
              <a:buNone/>
            </a:pPr>
            <a:r>
              <a:rPr lang="en-US" sz="1400" dirty="0">
                <a:solidFill>
                  <a:srgbClr val="1F2A30"/>
                </a:solidFill>
                <a:latin typeface="Calibri" pitchFamily="34" charset="0"/>
                <a:ea typeface="Calibri" pitchFamily="34" charset="-122"/>
                <a:cs typeface="Calibri" pitchFamily="34" charset="-120"/>
              </a:rPr>
              <a:t>Grow to ~300 questions, incl. multi-doc</a:t>
            </a:r>
            <a:endParaRPr lang="en-US" sz="1400" dirty="0"/>
          </a:p>
        </p:txBody>
      </p:sp>
      <p:sp>
        <p:nvSpPr>
          <p:cNvPr id="35" name="Text 33"/>
          <p:cNvSpPr txBox="1"/>
          <p:nvPr/>
        </p:nvSpPr>
        <p:spPr>
          <a:xfrm>
            <a:off x="457200" y="4681728"/>
            <a:ext cx="8229600" cy="274320"/>
          </a:xfrm>
          <a:prstGeom prst="rect">
            <a:avLst/>
          </a:prstGeom>
          <a:noFill/>
          <a:ln/>
        </p:spPr>
        <p:txBody>
          <a:bodyPr wrap="square" lIns="0" tIns="0" rIns="0" bIns="0" rtlCol="0" anchor="t"/>
          <a:lstStyle/>
          <a:p>
            <a:pPr indent="0" marL="0">
              <a:buNone/>
            </a:pPr>
            <a:r>
              <a:rPr lang="en-US" sz="1000" dirty="0">
                <a:solidFill>
                  <a:srgbClr val="5B6770"/>
                </a:solidFill>
                <a:latin typeface="Calibri" pitchFamily="34" charset="0"/>
                <a:ea typeface="Calibri" pitchFamily="34" charset="-122"/>
                <a:cs typeface="Calibri" pitchFamily="34" charset="-120"/>
              </a:rPr>
              <a:t>Dev set: 62 answerable questions, Qwen3-Embedding-0.6B, M4 Max. Ranking quality = nDCG@5 (1 = perfect). Not yet validated on held-out data.</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vt:i4>
      </vt:variant>
    </vt:vector>
  </HeadingPairs>
  <TitlesOfParts>
    <vt:vector size="5" baseType="lpstr">
      <vt:lpstr>Arial</vt:lpstr>
      <vt:lpstr>Calibri</vt:lpstr>
      <vt:lpstr>Office Theme</vt:lpstr>
      <vt:lpstr>Slide 1</vt:lpstr>
      <vt:lpstr>Slide 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Team 13 Midterm: Cost-aware adaptive retrieval</dc:title>
  <dc:subject>PptxGenJS Presentation</dc:subject>
  <dc:creator>Team 13</dc:creator>
  <cp:lastModifiedBy>Team 13</cp:lastModifiedBy>
  <cp:revision>1</cp:revision>
  <dcterms:created xsi:type="dcterms:W3CDTF">2026-10-22T06:37:20Z</dcterms:created>
  <dcterms:modified xsi:type="dcterms:W3CDTF">2026-10-22T06:37:20Z</dcterms:modified>
</cp:coreProperties>
</file>