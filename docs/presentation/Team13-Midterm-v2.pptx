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770"/>
                </a:solidFill>
                <a:latin typeface="Calibri"/>
              </a:defRPr>
            </a:pPr>
            <a:r>
              <a:rPr sz="1200" b="0" i="0" u="none" strike="noStrike">
                <a:solidFill>
                  <a:srgbClr val="5B6770"/>
                </a:solidFill>
                <a:latin typeface="Calibri"/>
              </a:rPr>
              <a:t>Gold document in top 5 (MRR 0.67)</a:t>
            </a:r>
          </a:p>
        </c:rich>
      </c:tx>
      <c:layout/>
      <c:overlay val="0"/>
    </c:title>
    <c:autoTitleDeleted val="0"/>
    <c:plotArea>
      <c:layout/>
      <c:barChart>
        <c:barDir val="bar"/>
        <c:grouping val="clustered"/>
        <c:varyColors val="0"/>
        <c:ser>
          <c:idx val="0"/>
          <c:order val="0"/>
          <c:tx>
            <c:strRef>
              <c:f>Sheet1!$B$1</c:f>
              <c:strCache>
                <c:ptCount val="1"/>
                <c:pt idx="0">
                  <c:v>Hit@5</c:v>
                </c:pt>
              </c:strCache>
            </c:strRef>
          </c:tx>
          <c:spPr>
            <a:solidFill>
              <a:srgbClr val="1F2A30"/>
            </a:solidFill>
            <a:effectLst/>
          </c:spPr>
          <c:invertIfNegative val="0"/>
          <c:dLbls>
            <c:numFmt formatCode="0&quot;%&quot;" sourceLinked="0"/>
            <c:txPr>
              <a:bodyPr/>
              <a:lstStyle/>
              <a:p>
                <a:pPr>
                  <a:defRPr b="0" i="0" strike="noStrike" sz="1100" u="none">
                    <a:solidFill>
                      <a:srgbClr val="1F2A30"/>
                    </a:solidFill>
                    <a:latin typeface="Calibri"/>
                  </a:defRPr>
                </a:pPr>
              </a:p>
            </c:txPr>
            <c:showLegendKey val="0"/>
            <c:showVal val="1"/>
            <c:showCatName val="0"/>
            <c:showSerName val="0"/>
            <c:showPercent val="0"/>
            <c:showBubbleSize val="0"/>
            <c:showLeaderLines val="0"/>
          </c:dLbls>
          <c:dPt>
            <c:idx val="0"/>
            <c:invertIfNegative val="0"/>
            <c:bubble3D val="0"/>
            <c:spPr>
              <a:solidFill>
                <a:srgbClr val="1F2A30"/>
              </a:solidFill>
              <a:effectLst/>
            </c:spPr>
          </c:dPt>
          <c:dPt>
            <c:idx val="1"/>
            <c:invertIfNegative val="0"/>
            <c:bubble3D val="0"/>
            <c:spPr>
              <a:solidFill>
                <a:srgbClr val="B8C2C8"/>
              </a:solidFill>
              <a:effectLst/>
            </c:spPr>
          </c:dPt>
          <c:dPt>
            <c:idx val="2"/>
            <c:invertIfNegative val="0"/>
            <c:bubble3D val="0"/>
            <c:spPr>
              <a:solidFill>
                <a:srgbClr val="B8C2C8"/>
              </a:solidFill>
              <a:effectLst/>
            </c:spPr>
          </c:dPt>
          <c:dPt>
            <c:idx val="3"/>
            <c:invertIfNegative val="0"/>
            <c:bubble3D val="0"/>
            <c:spPr>
              <a:solidFill>
                <a:srgbClr val="B8C2C8"/>
              </a:solidFill>
              <a:effectLst/>
            </c:spPr>
          </c:dPt>
          <c:dPt>
            <c:idx val="4"/>
            <c:invertIfNegative val="0"/>
            <c:bubble3D val="0"/>
            <c:spPr>
              <a:solidFill>
                <a:srgbClr val="D98E04"/>
              </a:solidFill>
              <a:effectLst/>
            </c:spPr>
          </c:dPt>
          <c:cat>
            <c:multiLvlStrRef>
              <c:f>Sheet1!$A$2:$A$6</c:f>
              <c:multiLvlStrCache>
                <c:ptCount val="5"/>
                <c:lvl>
                  <c:pt idx="0">
                    <c:v>All questions</c:v>
                  </c:pt>
                  <c:pt idx="1">
                    <c:v>Constrained</c:v>
                  </c:pt>
                  <c:pt idx="2">
                    <c:v>Basic</c:v>
                  </c:pt>
                  <c:pt idx="3">
                    <c:v>Intra-doc reasoning</c:v>
                  </c:pt>
                  <c:pt idx="4">
                    <c:v>Semantic</c:v>
                  </c:pt>
                </c:lvl>
              </c:multiLvlStrCache>
            </c:multiLvlStrRef>
          </c:cat>
          <c:val>
            <c:numRef>
              <c:f>Sheet1!$B$2:$B$6</c:f>
              <c:numCache>
                <c:formatCode>General</c:formatCode>
                <c:ptCount val="5"/>
                <c:pt idx="0">
                  <c:v>84.4</c:v>
                </c:pt>
                <c:pt idx="1">
                  <c:v>100</c:v>
                </c:pt>
                <c:pt idx="2">
                  <c:v>91.4</c:v>
                </c:pt>
                <c:pt idx="3">
                  <c:v>86.7</c:v>
                </c:pt>
                <c:pt idx="4">
                  <c:v>64</c:v>
                </c:pt>
              </c:numCache>
            </c:numRef>
          </c:val>
        </c:ser>
        <c:dLbls>
          <c:numFmt formatCode="0&quot;%&quot;" sourceLinked="0"/>
          <c:txPr>
            <a:bodyPr/>
            <a:lstStyle/>
            <a:p>
              <a:pPr>
                <a:defRPr b="0" i="0" strike="noStrike" sz="1100" u="none">
                  <a:solidFill>
                    <a:srgbClr val="1F2A3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A30"/>
                </a:solidFill>
                <a:latin typeface="Calibri"/>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target: 55 seconds.
Support teams want fast, correct answers from company documents, but running the full retrieval pipeline on every question is slow and costly, and answering from weak evidence is risky.
Our idea is to match retrieval effort to the question. First, check a cache of verified answers: a repeat question reuses its answer. Otherwise, retrieve and rerank evidence. Then check that evidence. If it is weak, search once more, at most once. Finally, answer with citations, or refuse if the evidence is still insufficient.
Today the retrieval step is built: a local MiniLM search over company documents. The other steps are planned.
Prior work such as Adaptive-RAG routes by question complexity, and Self-RAG learns when to retrieve and critiques itself. Both decide when to retrieve. We decide how much effort an enterprise question deserves, including reusing an answer or refusing, and we measure the quality-versus-cost tradeoff. Cost savings are still a hypothesis.
Sources:
Jeong et al., Adaptive-RAG, NAACL 2024: https://aclanthology.org/2024.naacl-long.389/
Asai et al., Self-RAG, ICLR 2024: https://arxiv.org/abs/2310.11511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target: 65 seconds, then about one minute of questions.
We built a reproducible retrieval baseline on a subset of EnterpriseRAG-Bench: 100 questions and 290 documents, split into 3,358 passages and indexed with MiniLM. For 84 percent of the 90 answerable questions, the correct document is in the top five. MRR is 0.67. Constrained and basic questions do well, but semantic questions, the paraphrased ones, drop to 64 percent. A rerun reproduced every rank exactly.
Our main takeaway: finding the right document is not the same as finding the answer. In one example the correct email thread ranked first, but its best passage starts just after the five-business-day detail the question asks for. So retrieval scores alone overstate readiness, and we need to check evidence before answering.
Before the final report: hybrid keyword plus MiniLM search with a reranker for the semantic gap; grounded answers with citations and refusal; the evidence check, verified cache, and one retry; then a plot of answer quality against latency and cost. We will also grow to about 300 questions, including multi-document ones.
Results: https://github.com/AdithNG/adaptive-enterprise-retrieval/blob/midterm-presentation/results/midterm/retrieval_eval_20261019-023503/summary.json
Dataset: https://github.com/onyx-dot-app/EnterpriseRAG-Bench
Q&amp;A:
What is Hit@5? The share of answerable questions with a correct document among the top five ranked documents.
What is MRR? The average of 1/rank of the first correct document. It is not the average rank.
Why 290 documents? 90 gold documents plus 200 related documents chosen as hard negatives. Full-corpus performance is not established.
Have you reduced cost? Not yet. This run measures retrieval only; adaptive comparisons come next.
Do you evaluate refusal? Not yet. Ten unanswerable questions are logged but excluded from retrieval scores.
Held-out results? Test Hit@5 is 12/15, a small split. Treat it as descriptive; no tuning was done.
Multi-document questions? None in the current subset; we plan to add them.
Failure example: qst_0187 (harmful-output warnings over two evaluation windows): the correct document ranks sixth, behind general incident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TEAM 13  ·  CSCI 544 MIDTERM</a:t>
            </a:r>
            <a:endParaRPr lang="en-US" sz="1100" dirty="0"/>
          </a:p>
        </p:txBody>
      </p:sp>
      <p:sp>
        <p:nvSpPr>
          <p:cNvPr id="3" name="Text 1"/>
          <p:cNvSpPr txBox="1"/>
          <p:nvPr/>
        </p:nvSpPr>
        <p:spPr>
          <a:xfrm>
            <a:off x="457200" y="530352"/>
            <a:ext cx="8229600" cy="502920"/>
          </a:xfrm>
          <a:prstGeom prst="rect">
            <a:avLst/>
          </a:prstGeom>
          <a:noFill/>
          <a:ln/>
        </p:spPr>
        <p:txBody>
          <a:bodyPr wrap="square" lIns="0" tIns="0" rIns="0" bIns="0" rtlCol="0" anchor="t"/>
          <a:lstStyle/>
          <a:p>
            <a:pPr indent="0" marL="0">
              <a:buNone/>
            </a:pPr>
            <a:r>
              <a:rPr lang="en-US" sz="2800" b="1" dirty="0">
                <a:solidFill>
                  <a:srgbClr val="1F2A30"/>
                </a:solidFill>
                <a:latin typeface="Calibri" pitchFamily="34" charset="0"/>
                <a:ea typeface="Calibri" pitchFamily="34" charset="-122"/>
                <a:cs typeface="Calibri" pitchFamily="34" charset="-120"/>
              </a:rPr>
              <a:t>Match retrieval effort to the question</a:t>
            </a:r>
            <a:endParaRPr lang="en-US" sz="2800" dirty="0"/>
          </a:p>
        </p:txBody>
      </p:sp>
      <p:sp>
        <p:nvSpPr>
          <p:cNvPr id="4" name="Text 2"/>
          <p:cNvSpPr txBox="1"/>
          <p:nvPr/>
        </p:nvSpPr>
        <p:spPr>
          <a:xfrm>
            <a:off x="457200" y="1033272"/>
            <a:ext cx="8229600" cy="27432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Enterprise support assistant: a cited answer from company documents, or a refusal when evidence is weak</a:t>
            </a:r>
            <a:endParaRPr lang="en-US" sz="1400" dirty="0"/>
          </a:p>
        </p:txBody>
      </p:sp>
      <p:sp>
        <p:nvSpPr>
          <p:cNvPr id="5" name="step-1"/>
          <p:cNvSpPr/>
          <p:nvPr/>
        </p:nvSpPr>
        <p:spPr>
          <a:xfrm>
            <a:off x="457200" y="1600200"/>
            <a:ext cx="1828800" cy="960120"/>
          </a:xfrm>
          <a:prstGeom prst="roundRect">
            <a:avLst>
              <a:gd name="adj" fmla="val 7619"/>
            </a:avLst>
          </a:prstGeom>
          <a:solidFill>
            <a:srgbClr val="FFFFFF"/>
          </a:solidFill>
          <a:ln w="15875">
            <a:solidFill>
              <a:srgbClr val="B8C2C8"/>
            </a:solidFill>
            <a:prstDash val="dash"/>
          </a:ln>
        </p:spPr>
      </p:sp>
      <p:sp>
        <p:nvSpPr>
          <p:cNvPr id="6" name="Text 4"/>
          <p:cNvSpPr txBox="1"/>
          <p:nvPr/>
        </p:nvSpPr>
        <p:spPr>
          <a:xfrm>
            <a:off x="594360" y="1709928"/>
            <a:ext cx="27432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94360" y="1947672"/>
            <a:ext cx="1554480" cy="274320"/>
          </a:xfrm>
          <a:prstGeom prst="rect">
            <a:avLst/>
          </a:prstGeom>
          <a:noFill/>
          <a:ln/>
        </p:spPr>
        <p:txBody>
          <a:bodyPr wrap="square" lIns="0" tIns="0" rIns="0" bIns="0" rtlCol="0" anchor="t"/>
          <a:lstStyle/>
          <a:p>
            <a:pPr indent="0" marL="0">
              <a:buNone/>
            </a:pPr>
            <a:r>
              <a:rPr lang="en-US" sz="1400" b="1" dirty="0">
                <a:solidFill>
                  <a:srgbClr val="1F2A30"/>
                </a:solidFill>
                <a:latin typeface="Calibri" pitchFamily="34" charset="0"/>
                <a:ea typeface="Calibri" pitchFamily="34" charset="-122"/>
                <a:cs typeface="Calibri" pitchFamily="34" charset="-120"/>
              </a:rPr>
              <a:t>Check verified cache</a:t>
            </a:r>
            <a:endParaRPr lang="en-US" sz="1400" dirty="0"/>
          </a:p>
        </p:txBody>
      </p:sp>
      <p:sp>
        <p:nvSpPr>
          <p:cNvPr id="8" name="Text 6"/>
          <p:cNvSpPr txBox="1"/>
          <p:nvPr/>
        </p:nvSpPr>
        <p:spPr>
          <a:xfrm>
            <a:off x="594360" y="2221992"/>
            <a:ext cx="1554480" cy="27432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Repeat? Reuse the answer</a:t>
            </a:r>
            <a:endParaRPr lang="en-US" sz="1100" dirty="0"/>
          </a:p>
        </p:txBody>
      </p:sp>
      <p:sp>
        <p:nvSpPr>
          <p:cNvPr id="9" name="Shape 7"/>
          <p:cNvSpPr/>
          <p:nvPr/>
        </p:nvSpPr>
        <p:spPr>
          <a:xfrm>
            <a:off x="2331720" y="2080260"/>
            <a:ext cx="210312" cy="0"/>
          </a:xfrm>
          <a:prstGeom prst="line">
            <a:avLst/>
          </a:prstGeom>
          <a:noFill/>
          <a:ln w="19050">
            <a:solidFill>
              <a:srgbClr val="5B6770"/>
            </a:solidFill>
            <a:prstDash val="solid"/>
            <a:tailEnd type="triangle"/>
          </a:ln>
        </p:spPr>
      </p:sp>
      <p:sp>
        <p:nvSpPr>
          <p:cNvPr id="10" name="step-2"/>
          <p:cNvSpPr/>
          <p:nvPr/>
        </p:nvSpPr>
        <p:spPr>
          <a:xfrm>
            <a:off x="2587752" y="1600200"/>
            <a:ext cx="1828800" cy="960120"/>
          </a:xfrm>
          <a:prstGeom prst="roundRect">
            <a:avLst>
              <a:gd name="adj" fmla="val 7619"/>
            </a:avLst>
          </a:prstGeom>
          <a:solidFill>
            <a:srgbClr val="0F7C80"/>
          </a:solidFill>
          <a:ln w="15875">
            <a:solidFill>
              <a:srgbClr val="0F7C80"/>
            </a:solidFill>
            <a:prstDash val="solid"/>
          </a:ln>
        </p:spPr>
      </p:sp>
      <p:sp>
        <p:nvSpPr>
          <p:cNvPr id="11" name="Text 9"/>
          <p:cNvSpPr txBox="1"/>
          <p:nvPr/>
        </p:nvSpPr>
        <p:spPr>
          <a:xfrm>
            <a:off x="2724912" y="1709928"/>
            <a:ext cx="27432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2724912" y="194767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Retrieve + rerank</a:t>
            </a:r>
            <a:endParaRPr lang="en-US" sz="1400" dirty="0"/>
          </a:p>
        </p:txBody>
      </p:sp>
      <p:sp>
        <p:nvSpPr>
          <p:cNvPr id="13" name="Text 11"/>
          <p:cNvSpPr txBox="1"/>
          <p:nvPr/>
        </p:nvSpPr>
        <p:spPr>
          <a:xfrm>
            <a:off x="2724912" y="2221992"/>
            <a:ext cx="1554480" cy="274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MiniLM search built today</a:t>
            </a:r>
            <a:endParaRPr lang="en-US" sz="1100" dirty="0"/>
          </a:p>
        </p:txBody>
      </p:sp>
      <p:sp>
        <p:nvSpPr>
          <p:cNvPr id="14" name="Shape 12"/>
          <p:cNvSpPr/>
          <p:nvPr/>
        </p:nvSpPr>
        <p:spPr>
          <a:xfrm>
            <a:off x="4462272" y="2080260"/>
            <a:ext cx="210312" cy="0"/>
          </a:xfrm>
          <a:prstGeom prst="line">
            <a:avLst/>
          </a:prstGeom>
          <a:noFill/>
          <a:ln w="19050">
            <a:solidFill>
              <a:srgbClr val="5B6770"/>
            </a:solidFill>
            <a:prstDash val="solid"/>
            <a:tailEnd type="triangle"/>
          </a:ln>
        </p:spPr>
      </p:sp>
      <p:sp>
        <p:nvSpPr>
          <p:cNvPr id="15" name="step-3"/>
          <p:cNvSpPr/>
          <p:nvPr/>
        </p:nvSpPr>
        <p:spPr>
          <a:xfrm>
            <a:off x="4718304" y="1600200"/>
            <a:ext cx="1828800" cy="960120"/>
          </a:xfrm>
          <a:prstGeom prst="roundRect">
            <a:avLst>
              <a:gd name="adj" fmla="val 7619"/>
            </a:avLst>
          </a:prstGeom>
          <a:solidFill>
            <a:srgbClr val="FFFFFF"/>
          </a:solidFill>
          <a:ln w="15875">
            <a:solidFill>
              <a:srgbClr val="B8C2C8"/>
            </a:solidFill>
            <a:prstDash val="dash"/>
          </a:ln>
        </p:spPr>
      </p:sp>
      <p:sp>
        <p:nvSpPr>
          <p:cNvPr id="16" name="Text 14"/>
          <p:cNvSpPr txBox="1"/>
          <p:nvPr/>
        </p:nvSpPr>
        <p:spPr>
          <a:xfrm>
            <a:off x="4855464" y="1709928"/>
            <a:ext cx="27432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4855464" y="1947672"/>
            <a:ext cx="1554480" cy="274320"/>
          </a:xfrm>
          <a:prstGeom prst="rect">
            <a:avLst/>
          </a:prstGeom>
          <a:noFill/>
          <a:ln/>
        </p:spPr>
        <p:txBody>
          <a:bodyPr wrap="square" lIns="0" tIns="0" rIns="0" bIns="0" rtlCol="0" anchor="t"/>
          <a:lstStyle/>
          <a:p>
            <a:pPr indent="0" marL="0">
              <a:buNone/>
            </a:pPr>
            <a:r>
              <a:rPr lang="en-US" sz="1400" b="1" dirty="0">
                <a:solidFill>
                  <a:srgbClr val="1F2A30"/>
                </a:solidFill>
                <a:latin typeface="Calibri" pitchFamily="34" charset="0"/>
                <a:ea typeface="Calibri" pitchFamily="34" charset="-122"/>
                <a:cs typeface="Calibri" pitchFamily="34" charset="-120"/>
              </a:rPr>
              <a:t>Check the evidence</a:t>
            </a:r>
            <a:endParaRPr lang="en-US" sz="1400" dirty="0"/>
          </a:p>
        </p:txBody>
      </p:sp>
      <p:sp>
        <p:nvSpPr>
          <p:cNvPr id="18" name="Text 16"/>
          <p:cNvSpPr txBox="1"/>
          <p:nvPr/>
        </p:nvSpPr>
        <p:spPr>
          <a:xfrm>
            <a:off x="4855464" y="2221992"/>
            <a:ext cx="1554480" cy="27432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Weak? Search once more</a:t>
            </a:r>
            <a:endParaRPr lang="en-US" sz="1100" dirty="0"/>
          </a:p>
        </p:txBody>
      </p:sp>
      <p:sp>
        <p:nvSpPr>
          <p:cNvPr id="19" name="Shape 17"/>
          <p:cNvSpPr/>
          <p:nvPr/>
        </p:nvSpPr>
        <p:spPr>
          <a:xfrm>
            <a:off x="6592824" y="2080260"/>
            <a:ext cx="210312" cy="0"/>
          </a:xfrm>
          <a:prstGeom prst="line">
            <a:avLst/>
          </a:prstGeom>
          <a:noFill/>
          <a:ln w="19050">
            <a:solidFill>
              <a:srgbClr val="5B6770"/>
            </a:solidFill>
            <a:prstDash val="solid"/>
            <a:tailEnd type="triangle"/>
          </a:ln>
        </p:spPr>
      </p:sp>
      <p:sp>
        <p:nvSpPr>
          <p:cNvPr id="20" name="step-4"/>
          <p:cNvSpPr/>
          <p:nvPr/>
        </p:nvSpPr>
        <p:spPr>
          <a:xfrm>
            <a:off x="6848856" y="1600200"/>
            <a:ext cx="1828800" cy="960120"/>
          </a:xfrm>
          <a:prstGeom prst="roundRect">
            <a:avLst>
              <a:gd name="adj" fmla="val 7619"/>
            </a:avLst>
          </a:prstGeom>
          <a:solidFill>
            <a:srgbClr val="FFFFFF"/>
          </a:solidFill>
          <a:ln w="15875">
            <a:solidFill>
              <a:srgbClr val="B8C2C8"/>
            </a:solidFill>
            <a:prstDash val="dash"/>
          </a:ln>
        </p:spPr>
      </p:sp>
      <p:sp>
        <p:nvSpPr>
          <p:cNvPr id="21" name="Text 19"/>
          <p:cNvSpPr txBox="1"/>
          <p:nvPr/>
        </p:nvSpPr>
        <p:spPr>
          <a:xfrm>
            <a:off x="6986016" y="1709928"/>
            <a:ext cx="274320" cy="27432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86016" y="1947672"/>
            <a:ext cx="1554480" cy="274320"/>
          </a:xfrm>
          <a:prstGeom prst="rect">
            <a:avLst/>
          </a:prstGeom>
          <a:noFill/>
          <a:ln/>
        </p:spPr>
        <p:txBody>
          <a:bodyPr wrap="square" lIns="0" tIns="0" rIns="0" bIns="0" rtlCol="0" anchor="t"/>
          <a:lstStyle/>
          <a:p>
            <a:pPr indent="0" marL="0">
              <a:buNone/>
            </a:pPr>
            <a:r>
              <a:rPr lang="en-US" sz="1400" b="1" dirty="0">
                <a:solidFill>
                  <a:srgbClr val="1F2A30"/>
                </a:solidFill>
                <a:latin typeface="Calibri" pitchFamily="34" charset="0"/>
                <a:ea typeface="Calibri" pitchFamily="34" charset="-122"/>
                <a:cs typeface="Calibri" pitchFamily="34" charset="-120"/>
              </a:rPr>
              <a:t>Answer or refuse</a:t>
            </a:r>
            <a:endParaRPr lang="en-US" sz="1400" dirty="0"/>
          </a:p>
        </p:txBody>
      </p:sp>
      <p:sp>
        <p:nvSpPr>
          <p:cNvPr id="23" name="Text 21"/>
          <p:cNvSpPr txBox="1"/>
          <p:nvPr/>
        </p:nvSpPr>
        <p:spPr>
          <a:xfrm>
            <a:off x="6986016" y="2221992"/>
            <a:ext cx="1554480" cy="274320"/>
          </a:xfrm>
          <a:prstGeom prst="rect">
            <a:avLst/>
          </a:prstGeom>
          <a:noFill/>
          <a:ln/>
        </p:spPr>
        <p:txBody>
          <a:bodyPr wrap="square" lIns="0" tIns="0" rIns="0" bIns="0" rtlCol="0" anchor="t"/>
          <a:lstStyle/>
          <a:p>
            <a:pPr indent="0" marL="0">
              <a:buNone/>
            </a:pPr>
            <a:r>
              <a:rPr lang="en-US" sz="1100" dirty="0">
                <a:solidFill>
                  <a:srgbClr val="5B6770"/>
                </a:solidFill>
                <a:latin typeface="Calibri" pitchFamily="34" charset="0"/>
                <a:ea typeface="Calibri" pitchFamily="34" charset="-122"/>
                <a:cs typeface="Calibri" pitchFamily="34" charset="-120"/>
              </a:rPr>
              <a:t>Cite sources, or decline</a:t>
            </a:r>
            <a:endParaRPr lang="en-US" sz="1100" dirty="0"/>
          </a:p>
        </p:txBody>
      </p:sp>
      <p:sp>
        <p:nvSpPr>
          <p:cNvPr id="24" name="Text 22"/>
          <p:cNvSpPr txBox="1"/>
          <p:nvPr/>
        </p:nvSpPr>
        <p:spPr>
          <a:xfrm>
            <a:off x="457200" y="2670048"/>
            <a:ext cx="3657600" cy="228600"/>
          </a:xfrm>
          <a:prstGeom prst="rect">
            <a:avLst/>
          </a:prstGeom>
          <a:noFill/>
          <a:ln/>
        </p:spPr>
        <p:txBody>
          <a:bodyPr wrap="square" lIns="0" tIns="0" rIns="0" bIns="0" rtlCol="0" anchor="t"/>
          <a:lstStyle/>
          <a:p>
            <a:pPr indent="0" marL="0">
              <a:buNone/>
            </a:pPr>
            <a:r>
              <a:rPr lang="en-US" sz="1100" dirty="0">
                <a:solidFill>
                  <a:srgbClr val="0F7C80"/>
                </a:solidFill>
                <a:latin typeface="Calibri" pitchFamily="34" charset="0"/>
                <a:ea typeface="Calibri" pitchFamily="34" charset="-122"/>
                <a:cs typeface="Calibri" pitchFamily="34" charset="-120"/>
              </a:rPr>
              <a:t>■ </a:t>
            </a:r>
            <a:pPr indent="0" marL="0">
              <a:buNone/>
            </a:pPr>
            <a:r>
              <a:rPr lang="en-US" sz="1100" dirty="0">
                <a:solidFill>
                  <a:srgbClr val="5B6770"/>
                </a:solidFill>
                <a:latin typeface="Calibri" pitchFamily="34" charset="0"/>
                <a:ea typeface="Calibri" pitchFamily="34" charset="-122"/>
                <a:cs typeface="Calibri" pitchFamily="34" charset="-120"/>
              </a:rPr>
              <a:t>built      </a:t>
            </a:r>
            <a:pPr indent="0" marL="0">
              <a:buNone/>
            </a:pPr>
            <a:r>
              <a:rPr lang="en-US" sz="1100" dirty="0">
                <a:solidFill>
                  <a:srgbClr val="5B6770"/>
                </a:solidFill>
                <a:latin typeface="Calibri" pitchFamily="34" charset="0"/>
                <a:ea typeface="Calibri" pitchFamily="34" charset="-122"/>
                <a:cs typeface="Calibri" pitchFamily="34" charset="-120"/>
              </a:rPr>
              <a:t>□ </a:t>
            </a:r>
            <a:pPr indent="0" marL="0">
              <a:buNone/>
            </a:pPr>
            <a:r>
              <a:rPr lang="en-US" sz="1100" dirty="0">
                <a:solidFill>
                  <a:srgbClr val="5B6770"/>
                </a:solidFill>
                <a:latin typeface="Calibri" pitchFamily="34" charset="0"/>
                <a:ea typeface="Calibri" pitchFamily="34" charset="-122"/>
                <a:cs typeface="Calibri" pitchFamily="34" charset="-120"/>
              </a:rPr>
              <a:t>planned</a:t>
            </a:r>
            <a:endParaRPr lang="en-US" sz="1100" dirty="0"/>
          </a:p>
        </p:txBody>
      </p:sp>
      <p:sp>
        <p:nvSpPr>
          <p:cNvPr id="25" name="prior-work"/>
          <p:cNvSpPr/>
          <p:nvPr/>
        </p:nvSpPr>
        <p:spPr>
          <a:xfrm>
            <a:off x="457200" y="3108960"/>
            <a:ext cx="4005072" cy="1508760"/>
          </a:xfrm>
          <a:prstGeom prst="roundRect">
            <a:avLst>
              <a:gd name="adj" fmla="val 4848"/>
            </a:avLst>
          </a:prstGeom>
          <a:solidFill>
            <a:srgbClr val="F1F3F4"/>
          </a:solidFill>
          <a:ln w="12700">
            <a:solidFill>
              <a:srgbClr val="F1F3F4"/>
            </a:solidFill>
            <a:prstDash val="solid"/>
          </a:ln>
        </p:spPr>
      </p:sp>
      <p:sp>
        <p:nvSpPr>
          <p:cNvPr id="26" name="Text 24"/>
          <p:cNvSpPr txBox="1"/>
          <p:nvPr/>
        </p:nvSpPr>
        <p:spPr>
          <a:xfrm>
            <a:off x="658368" y="3291840"/>
            <a:ext cx="3657600" cy="228600"/>
          </a:xfrm>
          <a:prstGeom prst="rect">
            <a:avLst/>
          </a:prstGeom>
          <a:noFill/>
          <a:ln/>
        </p:spPr>
        <p:txBody>
          <a:bodyPr wrap="square" lIns="0" tIns="0" rIns="0" bIns="0" rtlCol="0" anchor="t"/>
          <a:lstStyle/>
          <a:p>
            <a:pPr indent="0" marL="0">
              <a:buNone/>
            </a:pPr>
            <a:r>
              <a:rPr lang="en-US" sz="1100" b="1" spc="100" kern="0" dirty="0">
                <a:solidFill>
                  <a:srgbClr val="5B6770"/>
                </a:solidFill>
                <a:latin typeface="Calibri" pitchFamily="34" charset="0"/>
                <a:ea typeface="Calibri" pitchFamily="34" charset="-122"/>
                <a:cs typeface="Calibri" pitchFamily="34" charset="-120"/>
              </a:rPr>
              <a:t>PRIOR WORK</a:t>
            </a:r>
            <a:endParaRPr lang="en-US" sz="1100" dirty="0"/>
          </a:p>
        </p:txBody>
      </p:sp>
      <p:sp>
        <p:nvSpPr>
          <p:cNvPr id="27" name="Text 25"/>
          <p:cNvSpPr txBox="1"/>
          <p:nvPr/>
        </p:nvSpPr>
        <p:spPr>
          <a:xfrm>
            <a:off x="658368" y="3584448"/>
            <a:ext cx="3602736" cy="914400"/>
          </a:xfrm>
          <a:prstGeom prst="rect">
            <a:avLst/>
          </a:prstGeom>
          <a:noFill/>
          <a:ln/>
        </p:spPr>
        <p:txBody>
          <a:bodyPr wrap="square" lIns="0" tIns="0" rIns="0" bIns="0" rtlCol="0" anchor="t"/>
          <a:lstStyle/>
          <a:p>
            <a:pPr indent="0" marL="0">
              <a:spcAft>
                <a:spcPts val="600"/>
              </a:spcAft>
              <a:buNone/>
            </a:pPr>
            <a:r>
              <a:rPr lang="en-US" sz="1400" b="1" dirty="0">
                <a:solidFill>
                  <a:srgbClr val="1F2A30"/>
                </a:solidFill>
                <a:latin typeface="Calibri" pitchFamily="34" charset="0"/>
                <a:ea typeface="Calibri" pitchFamily="34" charset="-122"/>
                <a:cs typeface="Calibri" pitchFamily="34" charset="-120"/>
              </a:rPr>
              <a:t>Adaptive-RAG </a:t>
            </a:r>
            <a:pPr indent="0" marL="0">
              <a:spcAft>
                <a:spcPts val="600"/>
              </a:spcAft>
              <a:buNone/>
            </a:pPr>
            <a:r>
              <a:rPr lang="en-US" sz="1400" dirty="0">
                <a:solidFill>
                  <a:srgbClr val="1F2A30"/>
                </a:solidFill>
                <a:latin typeface="Calibri" pitchFamily="34" charset="0"/>
                <a:ea typeface="Calibri" pitchFamily="34" charset="-122"/>
                <a:cs typeface="Calibri" pitchFamily="34" charset="-120"/>
              </a:rPr>
              <a:t>(Jeong et al., 2024): routes by question complexity</a:t>
            </a:r>
            <a:endParaRPr lang="en-US" sz="1400" dirty="0"/>
          </a:p>
          <a:p>
            <a:pPr indent="0" marL="0">
              <a:spcAft>
                <a:spcPts val="600"/>
              </a:spcAft>
              <a:buNone/>
            </a:pPr>
            <a:r>
              <a:rPr lang="en-US" sz="1400" b="1" dirty="0">
                <a:solidFill>
                  <a:srgbClr val="1F2A30"/>
                </a:solidFill>
                <a:latin typeface="Calibri" pitchFamily="34" charset="0"/>
                <a:ea typeface="Calibri" pitchFamily="34" charset="-122"/>
                <a:cs typeface="Calibri" pitchFamily="34" charset="-120"/>
              </a:rPr>
              <a:t>Self-RAG </a:t>
            </a:r>
            <a:pPr indent="0" marL="0">
              <a:spcAft>
                <a:spcPts val="600"/>
              </a:spcAft>
              <a:buNone/>
            </a:pPr>
            <a:r>
              <a:rPr lang="en-US" sz="1400" dirty="0">
                <a:solidFill>
                  <a:srgbClr val="1F2A30"/>
                </a:solidFill>
                <a:latin typeface="Calibri" pitchFamily="34" charset="0"/>
                <a:ea typeface="Calibri" pitchFamily="34" charset="-122"/>
                <a:cs typeface="Calibri" pitchFamily="34" charset="-120"/>
              </a:rPr>
              <a:t>(Asai et al., 2024): learns when to retrieve, critiques itself</a:t>
            </a:r>
            <a:endParaRPr lang="en-US" sz="1400" dirty="0"/>
          </a:p>
        </p:txBody>
      </p:sp>
      <p:sp>
        <p:nvSpPr>
          <p:cNvPr id="28" name="our-angle"/>
          <p:cNvSpPr/>
          <p:nvPr/>
        </p:nvSpPr>
        <p:spPr>
          <a:xfrm>
            <a:off x="4681728" y="3108960"/>
            <a:ext cx="4005072" cy="1508760"/>
          </a:xfrm>
          <a:prstGeom prst="roundRect">
            <a:avLst>
              <a:gd name="adj" fmla="val 4848"/>
            </a:avLst>
          </a:prstGeom>
          <a:solidFill>
            <a:srgbClr val="E3F1F1"/>
          </a:solidFill>
          <a:ln w="12700">
            <a:solidFill>
              <a:srgbClr val="E3F1F1"/>
            </a:solidFill>
            <a:prstDash val="solid"/>
          </a:ln>
        </p:spPr>
      </p:sp>
      <p:sp>
        <p:nvSpPr>
          <p:cNvPr id="29" name="Text 27"/>
          <p:cNvSpPr txBox="1"/>
          <p:nvPr/>
        </p:nvSpPr>
        <p:spPr>
          <a:xfrm>
            <a:off x="4882896" y="3291840"/>
            <a:ext cx="3657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OUR ANGLE</a:t>
            </a:r>
            <a:endParaRPr lang="en-US" sz="1100" dirty="0"/>
          </a:p>
        </p:txBody>
      </p:sp>
      <p:sp>
        <p:nvSpPr>
          <p:cNvPr id="30" name="Text 28"/>
          <p:cNvSpPr txBox="1"/>
          <p:nvPr/>
        </p:nvSpPr>
        <p:spPr>
          <a:xfrm>
            <a:off x="4882896" y="3584448"/>
            <a:ext cx="3602736" cy="91440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They decide when to retrieve. We decide </a:t>
            </a:r>
            <a:pPr indent="0" marL="0">
              <a:buNone/>
            </a:pPr>
            <a:r>
              <a:rPr lang="en-US" sz="1400" b="1" dirty="0">
                <a:solidFill>
                  <a:srgbClr val="1F2A30"/>
                </a:solidFill>
                <a:latin typeface="Calibri" pitchFamily="34" charset="0"/>
                <a:ea typeface="Calibri" pitchFamily="34" charset="-122"/>
                <a:cs typeface="Calibri" pitchFamily="34" charset="-120"/>
              </a:rPr>
              <a:t>how much effort</a:t>
            </a:r>
            <a:pPr indent="0" marL="0">
              <a:buNone/>
            </a:pPr>
            <a:r>
              <a:rPr lang="en-US" sz="1400" dirty="0">
                <a:solidFill>
                  <a:srgbClr val="1F2A30"/>
                </a:solidFill>
                <a:latin typeface="Calibri" pitchFamily="34" charset="0"/>
                <a:ea typeface="Calibri" pitchFamily="34" charset="-122"/>
                <a:cs typeface="Calibri" pitchFamily="34" charset="-120"/>
              </a:rPr>
              <a:t> an enterprise question deserves (reuse, retry once, or refuse) and measure quality against latency and cost.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WHAT WE HAVE LEARNED</a:t>
            </a:r>
            <a:endParaRPr lang="en-US" sz="1100" dirty="0"/>
          </a:p>
        </p:txBody>
      </p:sp>
      <p:sp>
        <p:nvSpPr>
          <p:cNvPr id="3" name="Text 1"/>
          <p:cNvSpPr txBox="1"/>
          <p:nvPr/>
        </p:nvSpPr>
        <p:spPr>
          <a:xfrm>
            <a:off x="457200" y="530352"/>
            <a:ext cx="8229600" cy="502920"/>
          </a:xfrm>
          <a:prstGeom prst="rect">
            <a:avLst/>
          </a:prstGeom>
          <a:noFill/>
          <a:ln/>
        </p:spPr>
        <p:txBody>
          <a:bodyPr wrap="square" lIns="0" tIns="0" rIns="0" bIns="0" rtlCol="0" anchor="t"/>
          <a:lstStyle/>
          <a:p>
            <a:pPr indent="0" marL="0">
              <a:buNone/>
            </a:pPr>
            <a:r>
              <a:rPr lang="en-US" sz="2800" b="1" dirty="0">
                <a:solidFill>
                  <a:srgbClr val="1F2A30"/>
                </a:solidFill>
                <a:latin typeface="Calibri" pitchFamily="34" charset="0"/>
                <a:ea typeface="Calibri" pitchFamily="34" charset="-122"/>
                <a:cs typeface="Calibri" pitchFamily="34" charset="-120"/>
              </a:rPr>
              <a:t>The right document is not always the answer</a:t>
            </a:r>
            <a:endParaRPr lang="en-US" sz="2800" dirty="0"/>
          </a:p>
        </p:txBody>
      </p:sp>
      <p:sp>
        <p:nvSpPr>
          <p:cNvPr id="4" name="Text 2"/>
          <p:cNvSpPr txBox="1"/>
          <p:nvPr/>
        </p:nvSpPr>
        <p:spPr>
          <a:xfrm>
            <a:off x="457200" y="1033272"/>
            <a:ext cx="8229600" cy="27432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MiniLM baseline on an EnterpriseRAG-Bench subset: 100 questions, 290 documents, 3,358 passages</a:t>
            </a:r>
            <a:endParaRPr lang="en-US" sz="1400" dirty="0"/>
          </a:p>
        </p:txBody>
      </p:sp>
      <p:graphicFrame>
        <p:nvGraphicFramePr>
          <p:cNvPr id="5" name="hit5-by-type" descr=""/>
          <p:cNvGraphicFramePr/>
          <p:nvPr/>
        </p:nvGraphicFramePr>
        <p:xfrm>
          <a:off x="365760" y="1417320"/>
          <a:ext cx="4297680" cy="1965960"/>
        </p:xfrm>
        <a:graphic xmlns:a="http://schemas.openxmlformats.org/drawingml/2006/main">
          <a:graphicData uri="http://schemas.openxmlformats.org/drawingml/2006/chart">
            <c:chart xmlns:c="http://schemas.openxmlformats.org/drawingml/2006/chart" r:id="rId1"/>
          </a:graphicData>
        </a:graphic>
      </p:graphicFrame>
      <p:sp>
        <p:nvSpPr>
          <p:cNvPr id="6" name="example"/>
          <p:cNvSpPr/>
          <p:nvPr/>
        </p:nvSpPr>
        <p:spPr>
          <a:xfrm>
            <a:off x="457200" y="3520440"/>
            <a:ext cx="4160520" cy="1051560"/>
          </a:xfrm>
          <a:prstGeom prst="roundRect">
            <a:avLst>
              <a:gd name="adj" fmla="val 6957"/>
            </a:avLst>
          </a:prstGeom>
          <a:solidFill>
            <a:srgbClr val="F1F3F4"/>
          </a:solidFill>
          <a:ln w="12700">
            <a:solidFill>
              <a:srgbClr val="F1F3F4"/>
            </a:solidFill>
            <a:prstDash val="solid"/>
          </a:ln>
        </p:spPr>
      </p:sp>
      <p:sp>
        <p:nvSpPr>
          <p:cNvPr id="7" name="Text 4"/>
          <p:cNvSpPr txBox="1"/>
          <p:nvPr/>
        </p:nvSpPr>
        <p:spPr>
          <a:xfrm>
            <a:off x="640080" y="3657600"/>
            <a:ext cx="3794760" cy="822960"/>
          </a:xfrm>
          <a:prstGeom prst="rect">
            <a:avLst/>
          </a:prstGeom>
          <a:noFill/>
          <a:ln/>
        </p:spPr>
        <p:txBody>
          <a:bodyPr wrap="square" lIns="0" tIns="0" rIns="0" bIns="0" rtlCol="0" anchor="t"/>
          <a:lstStyle/>
          <a:p>
            <a:pPr indent="0" marL="0">
              <a:buNone/>
            </a:pPr>
            <a:r>
              <a:rPr lang="en-US" sz="1300" b="1" dirty="0">
                <a:solidFill>
                  <a:srgbClr val="1F2A30"/>
                </a:solidFill>
                <a:latin typeface="Calibri" pitchFamily="34" charset="0"/>
                <a:ea typeface="Calibri" pitchFamily="34" charset="-122"/>
                <a:cs typeface="Calibri" pitchFamily="34" charset="-120"/>
              </a:rPr>
              <a:t>Example: </a:t>
            </a:r>
            <a:pPr indent="0" marL="0">
              <a:buNone/>
            </a:pPr>
            <a:r>
              <a:rPr lang="en-US" sz="1300" dirty="0">
                <a:solidFill>
                  <a:srgbClr val="1F2A30"/>
                </a:solidFill>
                <a:latin typeface="Calibri" pitchFamily="34" charset="0"/>
                <a:ea typeface="Calibri" pitchFamily="34" charset="-122"/>
                <a:cs typeface="Calibri" pitchFamily="34" charset="-120"/>
              </a:rPr>
              <a:t>the correct email thread ranked #1, but its best passage starts just after the answer (a five-day runbook turnaround). A document hit is not yet usable evidence.</a:t>
            </a:r>
            <a:endParaRPr lang="en-US" sz="1300" dirty="0"/>
          </a:p>
        </p:txBody>
      </p:sp>
      <p:sp>
        <p:nvSpPr>
          <p:cNvPr id="8" name="Text 5"/>
          <p:cNvSpPr txBox="1"/>
          <p:nvPr/>
        </p:nvSpPr>
        <p:spPr>
          <a:xfrm>
            <a:off x="4983480" y="1463040"/>
            <a:ext cx="3657600" cy="228600"/>
          </a:xfrm>
          <a:prstGeom prst="rect">
            <a:avLst/>
          </a:prstGeom>
          <a:noFill/>
          <a:ln/>
        </p:spPr>
        <p:txBody>
          <a:bodyPr wrap="square" lIns="0" tIns="0" rIns="0" bIns="0" rtlCol="0" anchor="t"/>
          <a:lstStyle/>
          <a:p>
            <a:pPr indent="0" marL="0">
              <a:buNone/>
            </a:pPr>
            <a:r>
              <a:rPr lang="en-US" sz="1100" b="1" spc="100" kern="0" dirty="0">
                <a:solidFill>
                  <a:srgbClr val="0F7C80"/>
                </a:solidFill>
                <a:latin typeface="Calibri" pitchFamily="34" charset="0"/>
                <a:ea typeface="Calibri" pitchFamily="34" charset="-122"/>
                <a:cs typeface="Calibri" pitchFamily="34" charset="-120"/>
              </a:rPr>
              <a:t>BEFORE THE FINAL REPORT</a:t>
            </a:r>
            <a:endParaRPr lang="en-US" sz="1100" dirty="0"/>
          </a:p>
        </p:txBody>
      </p:sp>
      <p:sp>
        <p:nvSpPr>
          <p:cNvPr id="9" name="Text 6"/>
          <p:cNvSpPr txBox="1"/>
          <p:nvPr/>
        </p:nvSpPr>
        <p:spPr>
          <a:xfrm>
            <a:off x="4983480" y="1828800"/>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1</a:t>
            </a:r>
            <a:endParaRPr lang="en-US" sz="1400" dirty="0"/>
          </a:p>
        </p:txBody>
      </p:sp>
      <p:sp>
        <p:nvSpPr>
          <p:cNvPr id="10" name="Text 7"/>
          <p:cNvSpPr txBox="1"/>
          <p:nvPr/>
        </p:nvSpPr>
        <p:spPr>
          <a:xfrm>
            <a:off x="5303520" y="1828800"/>
            <a:ext cx="342900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Keyword + MiniLM search with a reranker</a:t>
            </a:r>
            <a:endParaRPr lang="en-US" sz="1400" dirty="0"/>
          </a:p>
        </p:txBody>
      </p:sp>
      <p:sp>
        <p:nvSpPr>
          <p:cNvPr id="11" name="Text 8"/>
          <p:cNvSpPr txBox="1"/>
          <p:nvPr/>
        </p:nvSpPr>
        <p:spPr>
          <a:xfrm>
            <a:off x="4983480" y="2304288"/>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2</a:t>
            </a:r>
            <a:endParaRPr lang="en-US" sz="1400" dirty="0"/>
          </a:p>
        </p:txBody>
      </p:sp>
      <p:sp>
        <p:nvSpPr>
          <p:cNvPr id="12" name="Text 9"/>
          <p:cNvSpPr txBox="1"/>
          <p:nvPr/>
        </p:nvSpPr>
        <p:spPr>
          <a:xfrm>
            <a:off x="5303520" y="2304288"/>
            <a:ext cx="342900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Grounded answers with citations, plus refusal</a:t>
            </a:r>
            <a:endParaRPr lang="en-US" sz="1400" dirty="0"/>
          </a:p>
        </p:txBody>
      </p:sp>
      <p:sp>
        <p:nvSpPr>
          <p:cNvPr id="13" name="Text 10"/>
          <p:cNvSpPr txBox="1"/>
          <p:nvPr/>
        </p:nvSpPr>
        <p:spPr>
          <a:xfrm>
            <a:off x="4983480" y="2779776"/>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5303520" y="2779776"/>
            <a:ext cx="342900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Evidence check, verified cache, and one retry</a:t>
            </a:r>
            <a:endParaRPr lang="en-US" sz="1400" dirty="0"/>
          </a:p>
        </p:txBody>
      </p:sp>
      <p:sp>
        <p:nvSpPr>
          <p:cNvPr id="15" name="Text 12"/>
          <p:cNvSpPr txBox="1"/>
          <p:nvPr/>
        </p:nvSpPr>
        <p:spPr>
          <a:xfrm>
            <a:off x="4983480" y="3255264"/>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5303520" y="3255264"/>
            <a:ext cx="342900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Plot answer quality against latency and cost</a:t>
            </a:r>
            <a:endParaRPr lang="en-US" sz="1400" dirty="0"/>
          </a:p>
        </p:txBody>
      </p:sp>
      <p:sp>
        <p:nvSpPr>
          <p:cNvPr id="17" name="Text 14"/>
          <p:cNvSpPr txBox="1"/>
          <p:nvPr/>
        </p:nvSpPr>
        <p:spPr>
          <a:xfrm>
            <a:off x="4983480" y="3730752"/>
            <a:ext cx="274320" cy="365760"/>
          </a:xfrm>
          <a:prstGeom prst="rect">
            <a:avLst/>
          </a:prstGeom>
          <a:noFill/>
          <a:ln/>
        </p:spPr>
        <p:txBody>
          <a:bodyPr wrap="square" lIns="0" tIns="0" rIns="0" bIns="0" rtlCol="0" anchor="t"/>
          <a:lstStyle/>
          <a:p>
            <a:pPr indent="0" marL="0">
              <a:buNone/>
            </a:pPr>
            <a:r>
              <a:rPr lang="en-US" sz="1400" b="1" dirty="0">
                <a:solidFill>
                  <a:srgbClr val="0F7C80"/>
                </a:solidFill>
                <a:latin typeface="Calibri" pitchFamily="34" charset="0"/>
                <a:ea typeface="Calibri" pitchFamily="34" charset="-122"/>
                <a:cs typeface="Calibri" pitchFamily="34" charset="-120"/>
              </a:rPr>
              <a:t>5</a:t>
            </a:r>
            <a:endParaRPr lang="en-US" sz="1400" dirty="0"/>
          </a:p>
        </p:txBody>
      </p:sp>
      <p:sp>
        <p:nvSpPr>
          <p:cNvPr id="18" name="Text 15"/>
          <p:cNvSpPr txBox="1"/>
          <p:nvPr/>
        </p:nvSpPr>
        <p:spPr>
          <a:xfrm>
            <a:off x="5303520" y="3730752"/>
            <a:ext cx="3429000" cy="365760"/>
          </a:xfrm>
          <a:prstGeom prst="rect">
            <a:avLst/>
          </a:prstGeom>
          <a:noFill/>
          <a:ln/>
        </p:spPr>
        <p:txBody>
          <a:bodyPr wrap="square" lIns="0" tIns="0" rIns="0" bIns="0" rtlCol="0" anchor="t"/>
          <a:lstStyle/>
          <a:p>
            <a:pPr indent="0" marL="0">
              <a:buNone/>
            </a:pPr>
            <a:r>
              <a:rPr lang="en-US" sz="1400" dirty="0">
                <a:solidFill>
                  <a:srgbClr val="1F2A30"/>
                </a:solidFill>
                <a:latin typeface="Calibri" pitchFamily="34" charset="0"/>
                <a:ea typeface="Calibri" pitchFamily="34" charset="-122"/>
                <a:cs typeface="Calibri" pitchFamily="34" charset="-120"/>
              </a:rPr>
              <a:t>Grow to ~300 questions, incl. multi-document</a:t>
            </a:r>
            <a:endParaRPr lang="en-US" sz="1400" dirty="0"/>
          </a:p>
        </p:txBody>
      </p:sp>
      <p:sp>
        <p:nvSpPr>
          <p:cNvPr id="19" name="Text 16"/>
          <p:cNvSpPr txBox="1"/>
          <p:nvPr/>
        </p:nvSpPr>
        <p:spPr>
          <a:xfrm>
            <a:off x="457200" y="4727448"/>
            <a:ext cx="8229600" cy="228600"/>
          </a:xfrm>
          <a:prstGeom prst="rect">
            <a:avLst/>
          </a:prstGeom>
          <a:noFill/>
          <a:ln/>
        </p:spPr>
        <p:txBody>
          <a:bodyPr wrap="square" lIns="0" tIns="0" rIns="0" bIns="0" rtlCol="0" anchor="t"/>
          <a:lstStyle/>
          <a:p>
            <a:pPr indent="0" marL="0">
              <a:buNone/>
            </a:pPr>
            <a:r>
              <a:rPr lang="en-US" sz="1000" dirty="0">
                <a:solidFill>
                  <a:srgbClr val="5B6770"/>
                </a:solidFill>
                <a:latin typeface="Calibri" pitchFamily="34" charset="0"/>
                <a:ea typeface="Calibri" pitchFamily="34" charset="-122"/>
                <a:cs typeface="Calibri" pitchFamily="34" charset="-120"/>
              </a:rPr>
              <a:t>Exploratory: splits pooled; 90 answerable questions scored, 10 unanswerable excluded. Answer quality and cost savings are not measured yet.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13 Midterm: Cost-aware adaptive retrieval</dc:title>
  <dc:subject>PptxGenJS Presentation</dc:subject>
  <dc:creator>Team 13</dc:creator>
  <cp:lastModifiedBy>Team 13</cp:lastModifiedBy>
  <cp:revision>1</cp:revision>
  <dcterms:created xsi:type="dcterms:W3CDTF">2026-10-20T22:03:01Z</dcterms:created>
  <dcterms:modified xsi:type="dcterms:W3CDTF">2026-10-20T22:03:01Z</dcterms:modified>
</cp:coreProperties>
</file>